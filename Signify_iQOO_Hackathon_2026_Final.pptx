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A5F6E"/>
                </a:solidFill>
                <a:latin typeface="Consolas"/>
              </a:defRPr>
            </a:pPr>
            <a:r>
              <a:t>SIGNIFY // iQOO HACKATHON 2026  |  PHONE-FIRST ON-DEVICE AI  |  QUALCOMM SNAPDRAGON HEXAGON NPU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FFD000"/>
                </a:solidFill>
                <a:latin typeface="Consolas"/>
              </a:defRPr>
            </a:pPr>
            <a:r>
              <a:t>iQOO HACKATHON 2026 // HEALTHTECH &amp; ACCESSIBILITY</a:t>
            </a:r>
          </a:p>
          <a:p>
            <a:pPr>
              <a:defRPr sz="5400" b="1">
                <a:solidFill>
                  <a:srgbClr val="FFFFFF"/>
                </a:solidFill>
                <a:latin typeface="Segoe UI"/>
              </a:defRPr>
            </a:pPr>
            <a:r>
              <a:t>SIGNIFY</a:t>
            </a:r>
          </a:p>
          <a:p>
            <a:pPr>
              <a:defRPr sz="2800" b="1">
                <a:solidFill>
                  <a:srgbClr val="FFD000"/>
                </a:solidFill>
                <a:latin typeface="Segoe UI"/>
              </a:defRPr>
            </a:pPr>
            <a:r>
              <a:t>LET THE SILENCE BE HEARD.</a:t>
            </a:r>
          </a:p>
          <a:p>
            <a:br/>
            <a:pPr>
              <a:defRPr sz="1400">
                <a:solidFill>
                  <a:srgbClr val="9CA3AF"/>
                </a:solidFill>
                <a:latin typeface="Segoe UI"/>
              </a:defRPr>
            </a:pPr>
            <a:r>
              <a:t>A phone-first bidirectional communication assistant bridging sign-language users and spoken voice using Qualcomm Snapdragon Hexagon NPU acceleration and the Kaggle ASL 250 ML Foundation.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88720"/>
            <a:ext cx="3200400" cy="48463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100" b="1">
                <a:solidFill>
                  <a:srgbClr val="FFD000"/>
                </a:solidFill>
                <a:latin typeface="Consolas"/>
              </a:defRPr>
            </a:pPr>
            <a:r>
              <a:t>HARDWARE ENGINE SPECS</a:t>
            </a:r>
          </a:p>
          <a:p>
            <a:br/>
            <a:pPr>
              <a:defRPr sz="1100" b="1">
                <a:solidFill>
                  <a:srgbClr val="FFFFFF"/>
                </a:solidFill>
                <a:latin typeface="Consolas"/>
              </a:defRPr>
            </a:pPr>
            <a:r>
              <a:t>▶ NPU INFERENCE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&lt; 18ms real-time latency on Snapdragon Hexagon DSP via QNN TFLite delegate.</a:t>
            </a:r>
          </a:p>
          <a:p>
            <a:br/>
            <a:pPr>
              <a:defRPr sz="1100" b="1">
                <a:solidFill>
                  <a:srgbClr val="FFFFFF"/>
                </a:solidFill>
                <a:latin typeface="Consolas"/>
              </a:defRPr>
            </a:pPr>
            <a:r>
              <a:t>▶ 2-WAY BRIDGE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Forward Sign → Speech AND Reverse Voice → Accessible High-Contrast text.</a:t>
            </a:r>
          </a:p>
          <a:p>
            <a:br/>
            <a:pPr>
              <a:defRPr sz="1100" b="1">
                <a:solidFill>
                  <a:srgbClr val="FFFFFF"/>
                </a:solidFill>
                <a:latin typeface="Consolas"/>
              </a:defRPr>
            </a:pPr>
            <a:r>
              <a:t>▶ SAFETY GATING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Strict 70% confidence threshold + 2-frame temporal stability filtering.</a:t>
            </a:r>
          </a:p>
          <a:p>
            <a:br/>
            <a:pPr>
              <a:defRPr sz="1100" b="1">
                <a:solidFill>
                  <a:srgbClr val="FFFFFF"/>
                </a:solidFill>
                <a:latin typeface="Consolas"/>
              </a:defRPr>
            </a:pPr>
            <a:r>
              <a:t>▶ SILENT HAPTICS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Discrete linear resonant vibration pulses so users never break eye contact.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D000"/>
                </a:solidFill>
                <a:latin typeface="Consolas"/>
              </a:defRPr>
            </a:pPr>
            <a:r>
              <a:t>01 // THE URGENCY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WHEN COMMUNICATION BREAKS, EVERY SECOND MATTERS</a:t>
            </a:r>
          </a:p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Over 70 million deaf individuals worldwide face acute isolation in high-stakes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A5F6E"/>
                </a:solidFill>
                <a:latin typeface="Consolas"/>
              </a:defRPr>
            </a:pPr>
            <a:r>
              <a:t>SIGNIFY // iQOO HACKATHON 2026  |  PHONE-FIRST ON-DEVICE AI  |  QUALCOMM SNAPDRAGON HEXAGON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28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00" b="1">
                <a:solidFill>
                  <a:srgbClr val="FF3E3E"/>
                </a:solidFill>
                <a:latin typeface="Consolas"/>
              </a:defRPr>
            </a:pPr>
            <a:r>
              <a:t>[CRITICAL RISK]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HOSPITAL EMERGENCY INTAKE</a:t>
            </a:r>
          </a:p>
          <a:p>
            <a:pPr>
              <a:defRPr sz="1050">
                <a:solidFill>
                  <a:srgbClr val="9CA3AF"/>
                </a:solidFill>
                <a:latin typeface="Segoe UI"/>
              </a:defRPr>
            </a:pPr>
            <a:r>
              <a:t>• Deaf patient in trauma or acute pain cannot express symptoms to ER doctors.</a:t>
            </a:r>
          </a:p>
          <a:p>
            <a:pPr>
              <a:defRPr sz="1050">
                <a:solidFill>
                  <a:srgbClr val="9CA3AF"/>
                </a:solidFill>
                <a:latin typeface="Segoe UI"/>
              </a:defRPr>
            </a:pPr>
            <a:r>
              <a:t>• Certified medical interpreters take 2 to 4 hours to arrive on-site.</a:t>
            </a:r>
          </a:p>
          <a:p>
            <a:pPr>
              <a:defRPr sz="1050">
                <a:solidFill>
                  <a:srgbClr val="9CA3AF"/>
                </a:solidFill>
                <a:latin typeface="Segoe UI"/>
              </a:defRPr>
            </a:pPr>
            <a:r>
              <a:t>• Written notes are slow, imprecise, and unusable during medical shock.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28416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28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00" b="1">
                <a:solidFill>
                  <a:srgbClr val="FFD000"/>
                </a:solidFill>
                <a:latin typeface="Consolas"/>
              </a:defRPr>
            </a:pPr>
            <a:r>
              <a:t>[HIGH STRESS]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ROADSIDE &amp; POLICE ENCOUNTERS</a:t>
            </a:r>
          </a:p>
          <a:p>
            <a:pPr>
              <a:defRPr sz="1050">
                <a:solidFill>
                  <a:srgbClr val="9CA3AF"/>
                </a:solidFill>
                <a:latin typeface="Segoe UI"/>
              </a:defRPr>
            </a:pPr>
            <a:r>
              <a:t>• Traffic stops and emergency checkpoints require immediate comprehension.</a:t>
            </a:r>
          </a:p>
          <a:p>
            <a:pPr>
              <a:defRPr sz="1050">
                <a:solidFill>
                  <a:srgbClr val="9CA3AF"/>
                </a:solidFill>
                <a:latin typeface="Segoe UI"/>
              </a:defRPr>
            </a:pPr>
            <a:r>
              <a:t>• Hands moving unexpectedly to find paper can be tragically misinterpreted.</a:t>
            </a:r>
          </a:p>
          <a:p>
            <a:pPr>
              <a:defRPr sz="1050">
                <a:solidFill>
                  <a:srgbClr val="9CA3AF"/>
                </a:solidFill>
                <a:latin typeface="Segoe UI"/>
              </a:defRPr>
            </a:pPr>
            <a:r>
              <a:t>• Real-time voice broadcast ensures immediate clarity and safety.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28416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28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00" b="1">
                <a:solidFill>
                  <a:srgbClr val="06B6D4"/>
                </a:solidFill>
                <a:latin typeface="Consolas"/>
              </a:defRPr>
            </a:pPr>
            <a:r>
              <a:t>[DAILY BARRIER]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DAILY INDEPENDENCE &amp; TRANSIT</a:t>
            </a:r>
          </a:p>
          <a:p>
            <a:pPr>
              <a:defRPr sz="1050">
                <a:solidFill>
                  <a:srgbClr val="9CA3AF"/>
                </a:solidFill>
                <a:latin typeface="Segoe UI"/>
              </a:defRPr>
            </a:pPr>
            <a:r>
              <a:t>• Ordering food, asking for directions, airport security, and university lectures.</a:t>
            </a:r>
          </a:p>
          <a:p>
            <a:pPr>
              <a:defRPr sz="1050">
                <a:solidFill>
                  <a:srgbClr val="9CA3AF"/>
                </a:solidFill>
                <a:latin typeface="Segoe UI"/>
              </a:defRPr>
            </a:pPr>
            <a:r>
              <a:t>• 99%+ of the hearing population cannot read or understand sign language.</a:t>
            </a:r>
          </a:p>
          <a:p>
            <a:pPr>
              <a:defRPr sz="1050">
                <a:solidFill>
                  <a:srgbClr val="9CA3AF"/>
                </a:solidFill>
                <a:latin typeface="Segoe UI"/>
              </a:defRPr>
            </a:pPr>
            <a:r>
              <a:t>• Deaf individuals deserve dignity and independence without a chaperone.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D000"/>
                </a:solidFill>
                <a:latin typeface="Consolas"/>
              </a:defRPr>
            </a:pPr>
            <a:r>
              <a:t>02 // THE CORE INSIGHT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ISOLATED SIGNS ARE NOT A CONVERSATION</a:t>
            </a:r>
          </a:p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The fundamental barrier in AI sign language isn't just image classification — it is conversational synthesis.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A5F6E"/>
                </a:solidFill>
                <a:latin typeface="Consolas"/>
              </a:defRPr>
            </a:pPr>
            <a:r>
              <a:t>SIGNIFY // iQOO HACKATHON 2026  |  PHONE-FIRST ON-DEVICE AI  |  QUALCOMM SNAPDRAGON HEXAGON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FF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100" b="1">
                <a:solidFill>
                  <a:srgbClr val="FF3E3E"/>
                </a:solidFill>
                <a:latin typeface="Consolas"/>
              </a:defRPr>
            </a:pPr>
            <a:r>
              <a:t>✕  STANDARD RESEARCH CLASSIFIERS (THE PAST)</a:t>
            </a:r>
          </a:p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Raw Token Splatting Without Grammar</a:t>
            </a:r>
          </a:p>
          <a:p>
            <a:br/>
            <a:pPr>
              <a:defRPr sz="1150">
                <a:solidFill>
                  <a:srgbClr val="9CA3AF"/>
                </a:solidFill>
                <a:latin typeface="Segoe UI"/>
              </a:defRPr>
            </a:pPr>
            <a:r>
              <a:t>• Dumps disconnected keywords: 'WATER' ... 'PLEASE' ... 'WATER'.</a:t>
            </a:r>
            <a:br/>
            <a:r>
              <a:t>• Sounds robotic, grammatically incorrect, and confusing to doctors and hearing listeners.</a:t>
            </a:r>
            <a:br/>
            <a:r>
              <a:t>• Unfiltered token spam creates duplicate stuttering.</a:t>
            </a:r>
            <a:br/>
            <a:r>
              <a:t>• Zero awareness of conversational intent or social etiquette.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100" b="1">
                <a:solidFill>
                  <a:srgbClr val="FFD000"/>
                </a:solidFill>
                <a:latin typeface="Consolas"/>
              </a:defRPr>
            </a:pPr>
            <a:r>
              <a:t>✓  SIGNIFY CONTEXT ENGINE (OUR NOVELTY)</a:t>
            </a:r>
          </a:p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Grounded Natural Sentence Synthesis</a:t>
            </a:r>
          </a:p>
          <a:p>
            <a:br/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• Accumulates verified tokens: [ WATER ] + [ PLEASE ]</a:t>
            </a:r>
            <a:br/>
            <a:r>
              <a:t>• Synthesizes fluent, complete sentence: "Please may I have some water?"</a:t>
            </a:r>
            <a:br/>
            <a:r>
              <a:t>• Medical triage: [ SICK ] + [ OWIE ] → "I am sick and experiencing severe pain."</a:t>
            </a:r>
            <a:br/>
            <a:r>
              <a:t>• 100% Deterministic &amp; Zero-Hallucination: Strictly grounded in recognized signs.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D000"/>
                </a:solidFill>
                <a:latin typeface="Consolas"/>
              </a:defRPr>
            </a:pPr>
            <a:r>
              <a:t>03 // PRODUCT ARCHITECTURE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SMARTPHONE AS A TWO-WAY INTERACTION BRIDGE</a:t>
            </a:r>
          </a:p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Signify does not just translate gestures into speech; it completes the human conversation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A5F6E"/>
                </a:solidFill>
                <a:latin typeface="Consolas"/>
              </a:defRPr>
            </a:pPr>
            <a:r>
              <a:t>SIGNIFY // iQOO HACKATHON 2026  |  PHONE-FIRST ON-DEVICE AI  |  QUALCOMM SNAPDRAGON HEXAGON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28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200" b="1">
                <a:solidFill>
                  <a:srgbClr val="FFD000"/>
                </a:solidFill>
                <a:latin typeface="Consolas"/>
              </a:defRPr>
            </a:pPr>
            <a:r>
              <a:t>FORWARD FLOW: SIGN → VOICE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For the Hearing Conversation Partner</a:t>
            </a:r>
          </a:p>
          <a:p>
            <a:br/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1. Ingestion: Smartphone camera tracks 543 spatial landmarks.</a:t>
            </a:r>
            <a:br/>
            <a:r>
              <a:t>2. ML Model: Kaggle ASL 250 TFLite model predicts sign class.</a:t>
            </a:r>
            <a:br/>
            <a:r>
              <a:t>3. Confidence Gate: Requires ≥70% score + 2-frame temporal lock.</a:t>
            </a:r>
            <a:br/>
            <a:r>
              <a:t>4. Sentence Builder: Assembles fluent, natural English.</a:t>
            </a:r>
            <a:br/>
            <a:r>
              <a:t>5. Audio Broadcast: Crystal-clear speech broadcast via stereo speakers.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28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200" b="1">
                <a:solidFill>
                  <a:srgbClr val="06B6D4"/>
                </a:solidFill>
                <a:latin typeface="Consolas"/>
              </a:defRPr>
            </a:pPr>
            <a:r>
              <a:t>REVERSE FLOW: VOICE → ACCESSIBLE TEXT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For the Deaf / Non-Vocal Signer</a:t>
            </a:r>
          </a:p>
          <a:p>
            <a:br/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1. Microphone Ingest: High-sensitivity dual microphones capture speech.</a:t>
            </a:r>
            <a:br/>
            <a:r>
              <a:t>2. Noise Suppression: Filters ambient room acoustics in loud triage rooms.</a:t>
            </a:r>
            <a:br/>
            <a:r>
              <a:t>3. Single-Dispatch STT: Instant live transcription with interim typing.</a:t>
            </a:r>
            <a:br/>
            <a:r>
              <a:t>4. High-Contrast Display: 24pt high-contrast amber/white subtitles.</a:t>
            </a:r>
            <a:br/>
            <a:r>
              <a:t>5. Visual Waveform: Real-time audio waveform indicates active listening.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D000"/>
                </a:solidFill>
                <a:latin typeface="Consolas"/>
              </a:defRPr>
            </a:pPr>
            <a:r>
              <a:t>04 // IMPLEMENTATION REALITY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FULLY DEPLOYED &amp; TESTABLE PROTOTYPE</a:t>
            </a:r>
          </a:p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Not a mockup or slide concept: Signify is live on Vercel backed by an active ML model on Render.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A5F6E"/>
                </a:solidFill>
                <a:latin typeface="Consolas"/>
              </a:defRPr>
            </a:pPr>
            <a:r>
              <a:t>SIGNIFY // iQOO HACKATHON 2026  |  PHONE-FIRST ON-DEVICE AI  |  QUALCOMM SNAPDRAGON HEXAGON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200" b="1">
                <a:solidFill>
                  <a:srgbClr val="FFD000"/>
                </a:solidFill>
                <a:latin typeface="Consolas"/>
              </a:defRPr>
            </a:pPr>
            <a:r>
              <a:t>FRONTEND DEPLOYMENT: VERCEL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Interactive Phone-Chassis Web Application</a:t>
            </a:r>
          </a:p>
          <a:p>
            <a:br/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• Tech Stack: React 18, Vite 6, TypeScript, Tailwind CSS.</a:t>
            </a:r>
            <a:br/>
            <a:r>
              <a:t>• Mobile Experience: Pixel-accurate phone chassis with camera reticle.</a:t>
            </a:r>
            <a:br/>
            <a:r>
              <a:t>• Conversation Mode: Live two-way chat stream with playback audio.</a:t>
            </a:r>
            <a:br/>
            <a:r>
              <a:t>• Camera Vision: Accesses real physical webcams and phone selfie cameras.</a:t>
            </a:r>
            <a:br/>
            <a:r>
              <a:t>• Single Source of Truth: 250 Kaggle ASL model vocabulary mapped.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200" b="1">
                <a:solidFill>
                  <a:srgbClr val="10B981"/>
                </a:solidFill>
                <a:latin typeface="Consolas"/>
              </a:defRPr>
            </a:pPr>
            <a:r>
              <a:t>ML BACKEND: RENDER CLOUD (FASTAPI + TFLITE)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Live REST Endpoint: https://signifyprototype.onrender.com</a:t>
            </a:r>
          </a:p>
          <a:p>
            <a:br/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Endpoints: /predict_frame, /health, /signs (returns 250 classes).</a:t>
            </a:r>
            <a:br/>
            <a:r>
              <a:t>• Pipeline: Decodes base64 frames → MediaPipe HandLandmarker →</a:t>
            </a:r>
            <a:br/>
            <a:r>
              <a:t>  Rolling 45-frame tensor buffer → model.tflite inference.</a:t>
            </a:r>
            <a:br/>
            <a:r>
              <a:t>• Linux Headless Container: Configured with libEGL &amp; libGLES.</a:t>
            </a:r>
            <a:br/>
            <a:r>
              <a:t>• Zero-Config Verification: Judges can test the live URL directly on their own mobile devices!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D000"/>
                </a:solidFill>
                <a:latin typeface="Consolas"/>
              </a:defRPr>
            </a:pPr>
            <a:r>
              <a:t>05 // TRUST &amp; SAFETY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WHY CONFIDENCE GATING MATTERS IN HEALTHCARE</a:t>
            </a:r>
          </a:p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In emergency triage, a false-positive sign translation can lead to dangerous medical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A5F6E"/>
                </a:solidFill>
                <a:latin typeface="Consolas"/>
              </a:defRPr>
            </a:pPr>
            <a:r>
              <a:t>SIGNIFY // iQOO HACKATHON 2026  |  PHONE-FIRST ON-DEVICE AI  |  QUALCOMM SNAPDRAGON HEXAGON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200" b="1">
                <a:solidFill>
                  <a:srgbClr val="10B981"/>
                </a:solidFill>
                <a:latin typeface="Consolas"/>
              </a:defRPr>
            </a:pPr>
            <a:r>
              <a:t>✓ ACCEPTED GESTURE (≥ 70.0% THRESHOLD)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High Confidence + Temporal Stability</a:t>
            </a:r>
          </a:p>
          <a:p>
            <a:br/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• Requires Softmax Probability ≥ 70.0%.</a:t>
            </a:r>
            <a:br/>
            <a:r>
              <a:t>• 2-Frame Temporal Persistence: Gesture must remain stable across consecutive video frames.</a:t>
            </a:r>
            <a:br/>
            <a:r>
              <a:t>• Haptic Dispatch: Triggers 1 crisp vibration pulse (45ms).</a:t>
            </a:r>
            <a:br/>
            <a:r>
              <a:t>• Token Appended: Token added to sentence buffer (e.g. [ SICK ]).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FF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200" b="1">
                <a:solidFill>
                  <a:srgbClr val="FF3E3E"/>
                </a:solidFill>
                <a:latin typeface="Consolas"/>
              </a:defRPr>
            </a:pPr>
            <a:r>
              <a:t>✕ REJECTED GESTURE (&lt; 70.0% THRESHOLD)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Safety-Gate Retry Prompt</a:t>
            </a:r>
          </a:p>
          <a:p>
            <a:br/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• Suppresses weak guesses (e.g. 48% ambiguous finger shapes).</a:t>
            </a:r>
            <a:br/>
            <a:r>
              <a:t>• Prevents Garbage-In-Garbage-Out: No unverified words enter sentences.</a:t>
            </a:r>
            <a:br/>
            <a:r>
              <a:t>• Haptic Dispatch: Triggers 2 quick haptic pulses (retry sign).</a:t>
            </a:r>
            <a:br/>
            <a:r>
              <a:t>• User Feedback: Reticle flashes amber: 'HOLD HAND STEADY TO RETRY'.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D000"/>
                </a:solidFill>
                <a:latin typeface="Consolas"/>
              </a:defRPr>
            </a:pPr>
            <a:r>
              <a:t>06 // HUMAN-FIRST UX INNOVATION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SILENT PHYSICAL CONFIRMATION VIA HAPTIC MOTOR</a:t>
            </a:r>
          </a:p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Designed around the physical ergonomics of deaf signers: Never break eye contact with your listener.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A5F6E"/>
                </a:solidFill>
                <a:latin typeface="Consolas"/>
              </a:defRPr>
            </a:pPr>
            <a:r>
              <a:t>SIGNIFY // iQOO HACKATHON 2026  |  PHONE-FIRST ON-DEVICE AI  |  QUALCOMM SNAPDRAGON HEXAGON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1 CRISP PULSE (45ms)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SIGN RECOGNIZED</a:t>
            </a:r>
          </a:p>
          <a:p>
            <a:br/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Confirms gesture was accepted (≥70% confidence). User knows their sign was understood without looking at the screen.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28416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defRPr sz="1100" b="1">
                <a:solidFill>
                  <a:srgbClr val="FFD000"/>
                </a:solidFill>
                <a:latin typeface="Consolas"/>
              </a:defRPr>
            </a:pPr>
            <a:r>
              <a:t>2 QUICK PULSES (35ms)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RETRY GESTURE</a:t>
            </a:r>
          </a:p>
          <a:p>
            <a:br/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Tactile cue that lighting or hand angle was ambiguous. User naturally re-signs without conversation disruption.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28416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defRPr sz="1100" b="1">
                <a:solidFill>
                  <a:srgbClr val="06B6D4"/>
                </a:solidFill>
                <a:latin typeface="Consolas"/>
              </a:defRPr>
            </a:pPr>
            <a:r>
              <a:t>LONG WAVE PULSE (160ms)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MESSAGE SPOKEN OUT LOUD</a:t>
            </a:r>
          </a:p>
          <a:p>
            <a:br/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Confirms full sentence has been broadcast via the phone's stereo speakers to the hearing doctor or listener.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D000"/>
                </a:solidFill>
                <a:latin typeface="Consolas"/>
              </a:defRPr>
            </a:pPr>
            <a:r>
              <a:t>07 // ZERO-HALLUCINATION NLP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DETERMINISTIC CONTEXT-AWARE GRAMMAR ENGINE</a:t>
            </a:r>
          </a:p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Why Signify uses a grounded grammar engine rather than an ungrounded Cloud LLM.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A5F6E"/>
                </a:solidFill>
                <a:latin typeface="Consolas"/>
              </a:defRPr>
            </a:pPr>
            <a:r>
              <a:t>SIGNIFY // iQOO HACKATHON 2026  |  PHONE-FIRST ON-DEVICE AI  |  QUALCOMM SNAPDRAGON HEXAGON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200" b="1">
                <a:solidFill>
                  <a:srgbClr val="FFD000"/>
                </a:solidFill>
                <a:latin typeface="Consolas"/>
              </a:defRPr>
            </a:pPr>
            <a:r>
              <a:t>GROUNDED RULE &amp; CONTEXT GRAMMAR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How Raw Signs Become Meaningful Sentences</a:t>
            </a:r>
          </a:p>
          <a:p>
            <a:br/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[ WATER ] + [ PLEASE ] → "Please may I have some water?"</a:t>
            </a:r>
            <a:br/>
            <a:r>
              <a:t>• [ SICK ] + [ OWIE ] → "I am sick and experiencing severe pain."</a:t>
            </a:r>
            <a:br/>
            <a:r>
              <a:t>• [ POLICE ] + [ CALL ON PHONE ] → "Please call the police immediately."</a:t>
            </a:r>
            <a:br/>
            <a:r>
              <a:t>• [ WHERE ] + [ BATH ] → "Excuse me, where is the nearest restroom?"</a:t>
            </a:r>
            <a:br/>
            <a:r>
              <a:t>• Smart Assembler: Categorizes states, actions, and objects to weave complete English sentences with articles &amp; conjunctions.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28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200" b="1">
                <a:solidFill>
                  <a:srgbClr val="06B6D4"/>
                </a:solidFill>
                <a:latin typeface="Consolas"/>
              </a:defRPr>
            </a:pPr>
            <a:r>
              <a:t>COMPARISON: SIGNIFY vs. CLOUD LLM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Why Generic LLMs Fail in Real Emergencies</a:t>
            </a:r>
          </a:p>
          <a:p>
            <a:br/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• Latency: Cloud LLMs add 1,200ms+ network delay. Signify runs in &lt; 2ms.</a:t>
            </a:r>
            <a:br/>
            <a:r>
              <a:t>• Hallucinations: LLMs invent medical facts or signs not signed. Signify is 100% deterministic.</a:t>
            </a:r>
            <a:br/>
            <a:r>
              <a:t>• Offline Resilience: LLMs fail when internet drops. Signify operates completely offline on-device.</a:t>
            </a:r>
            <a:br/>
            <a:r>
              <a:t>• Data Privacy: Zero conversation data leaves the smartphone (HIPAA compliant).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D000"/>
                </a:solidFill>
                <a:latin typeface="Consolas"/>
              </a:defRPr>
            </a:pPr>
            <a:r>
              <a:t>08 // SYSTEM PIPELINE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END-TO-END MODULAR PROCESSING ARCHITECTURE</a:t>
            </a:r>
          </a:p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A strictly decoupled, high-performance pipeline engineered for sub-frame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A5F6E"/>
                </a:solidFill>
                <a:latin typeface="Consolas"/>
              </a:defRPr>
            </a:pPr>
            <a:r>
              <a:t>SIGNIFY // iQOO HACKATHON 2026  |  PHONE-FIRST ON-DEVICE AI  |  QUALCOMM SNAPDRAGON HEXAGON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5740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28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0"/>
          <a:lstStyle/>
          <a:p>
            <a:pPr algn="ctr">
              <a:defRPr sz="2200" b="1">
                <a:solidFill>
                  <a:srgbClr val="FFD000"/>
                </a:solidFill>
                <a:latin typeface="Consolas"/>
              </a:defRPr>
            </a:pPr>
            <a:r>
              <a:t>01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VISION INGEST</a:t>
            </a:r>
          </a:p>
          <a:p>
            <a:pPr>
              <a:defRPr sz="900" b="1">
                <a:solidFill>
                  <a:srgbClr val="06B6D4"/>
                </a:solidFill>
                <a:latin typeface="Consolas"/>
              </a:defRPr>
            </a:pPr>
            <a:r>
              <a:t>60 FPS Video Stream</a:t>
            </a:r>
          </a:p>
          <a:p>
            <a:br/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Captures camera frames in rolling memory buffer.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205740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28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0"/>
          <a:lstStyle/>
          <a:p>
            <a:pPr algn="ctr">
              <a:defRPr sz="2200" b="1">
                <a:solidFill>
                  <a:srgbClr val="FFD000"/>
                </a:solidFill>
                <a:latin typeface="Consolas"/>
              </a:defRPr>
            </a:pPr>
            <a:r>
              <a:t>02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LANDMARK EXTRACTION</a:t>
            </a:r>
          </a:p>
          <a:p>
            <a:pPr>
              <a:defRPr sz="900" b="1">
                <a:solidFill>
                  <a:srgbClr val="06B6D4"/>
                </a:solidFill>
                <a:latin typeface="Consolas"/>
              </a:defRPr>
            </a:pPr>
            <a:r>
              <a:t>MediaPipe 543 Keypoints</a:t>
            </a:r>
          </a:p>
          <a:p>
            <a:br/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Extracts normalized 3D hand, face, and pose landmarks.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645920"/>
            <a:ext cx="205740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0"/>
          <a:lstStyle/>
          <a:p>
            <a:pPr algn="ctr">
              <a:defRPr sz="2200" b="1">
                <a:solidFill>
                  <a:srgbClr val="FFD000"/>
                </a:solidFill>
                <a:latin typeface="Consolas"/>
              </a:defRPr>
            </a:pPr>
            <a:r>
              <a:t>03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MODEL INFERENCE</a:t>
            </a:r>
          </a:p>
          <a:p>
            <a:pPr>
              <a:defRPr sz="900" b="1">
                <a:solidFill>
                  <a:srgbClr val="06B6D4"/>
                </a:solidFill>
                <a:latin typeface="Consolas"/>
              </a:defRPr>
            </a:pPr>
            <a:r>
              <a:t>Kaggle ASL 250 (TFLite)</a:t>
            </a:r>
          </a:p>
          <a:p>
            <a:br/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Transformer / 1D-CNN predicts top classes via Softmax.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199" y="1645920"/>
            <a:ext cx="205740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0"/>
          <a:lstStyle/>
          <a:p>
            <a:pPr algn="ctr">
              <a:defRPr sz="2200" b="1">
                <a:solidFill>
                  <a:srgbClr val="FFD000"/>
                </a:solidFill>
                <a:latin typeface="Consolas"/>
              </a:defRPr>
            </a:pPr>
            <a:r>
              <a:t>04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SAFETY GATE</a:t>
            </a:r>
          </a:p>
          <a:p>
            <a:pPr>
              <a:defRPr sz="900" b="1">
                <a:solidFill>
                  <a:srgbClr val="06B6D4"/>
                </a:solidFill>
                <a:latin typeface="Consolas"/>
              </a:defRPr>
            </a:pPr>
            <a:r>
              <a:t>≥70% + Temporal Stability</a:t>
            </a:r>
          </a:p>
          <a:p>
            <a:br/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Filters low-confidence artifacts and duplicate token spam.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645920"/>
            <a:ext cx="205740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28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0"/>
          <a:lstStyle/>
          <a:p>
            <a:pPr algn="ctr">
              <a:defRPr sz="2200" b="1">
                <a:solidFill>
                  <a:srgbClr val="FFD000"/>
                </a:solidFill>
                <a:latin typeface="Consolas"/>
              </a:defRPr>
            </a:pPr>
            <a:r>
              <a:t>05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SPEECH &amp; HAPTICS</a:t>
            </a:r>
          </a:p>
          <a:p>
            <a:pPr>
              <a:defRPr sz="900" b="1">
                <a:solidFill>
                  <a:srgbClr val="06B6D4"/>
                </a:solidFill>
                <a:latin typeface="Consolas"/>
              </a:defRPr>
            </a:pPr>
            <a:r>
              <a:t>Context Engine + Audio</a:t>
            </a:r>
          </a:p>
          <a:p>
            <a:br/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Synthesizes natural phrase + audio speech + tactile pulses.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D000"/>
                </a:solidFill>
                <a:latin typeface="Consolas"/>
              </a:defRPr>
            </a:pPr>
            <a:r>
              <a:t>09 // HARDWARE DELEGATE BENCHMARK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QUALCOMM SNAPDRAGON HEXAGON NPU ACCELERATION</a:t>
            </a:r>
          </a:p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Unlocking real-time sub-18ms on-device inference using Qualcomm AI Engine Direct (QNN SDK).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A5F6E"/>
                </a:solidFill>
                <a:latin typeface="Consolas"/>
              </a:defRPr>
            </a:pPr>
            <a:r>
              <a:t>SIGNIFY // iQOO HACKATHON 2026  |  PHONE-FIRST ON-DEVICE AI  |  QUALCOMM SNAPDRAGON HEXAGON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28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200" b="1">
                <a:solidFill>
                  <a:srgbClr val="FFD000"/>
                </a:solidFill>
                <a:latin typeface="Consolas"/>
              </a:defRPr>
            </a:pPr>
            <a:r>
              <a:t>HARDWARE EXECUTION BENCHMARK COMPARISON</a:t>
            </a:r>
          </a:p>
          <a:p>
            <a:br/>
            <a:pPr>
              <a:defRPr sz="1100" b="1">
                <a:solidFill>
                  <a:srgbClr val="FFFFFF"/>
                </a:solidFill>
                <a:latin typeface="Consolas"/>
              </a:defRPr>
            </a:pPr>
            <a:r>
              <a:t>▶ INFERENCE LATENCY: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• CPU: 145 ms (Stutter)  |  Cloud: 280 ms (Lag)  |  NPU: &lt; 18 ms (Sub-frame)</a:t>
            </a:r>
          </a:p>
          <a:p>
            <a:br/>
            <a:pPr>
              <a:defRPr sz="1100" b="1">
                <a:solidFill>
                  <a:srgbClr val="FFFFFF"/>
                </a:solidFill>
                <a:latin typeface="Consolas"/>
              </a:defRPr>
            </a:pPr>
            <a:r>
              <a:t>▶ POWER DISSIPATION: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• CPU: 3.8 W (Hot)  |  Cloud: Radio Active  |  NPU: 0.42 W (All-Day)</a:t>
            </a:r>
          </a:p>
          <a:p>
            <a:br/>
            <a:pPr>
              <a:defRPr sz="1100" b="1">
                <a:solidFill>
                  <a:srgbClr val="FFFFFF"/>
                </a:solidFill>
                <a:latin typeface="Consolas"/>
              </a:defRPr>
            </a:pPr>
            <a:r>
              <a:t>▶ DATA BANDWIDTH: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• CPU: 0 KB/s  |  Cloud: 120 KB/s  |  NPU: 0 KB/s (Zero Bandwidth)</a:t>
            </a:r>
          </a:p>
          <a:p>
            <a:br/>
            <a:pPr>
              <a:defRPr sz="1100" b="1">
                <a:solidFill>
                  <a:srgbClr val="FFFFFF"/>
                </a:solidFill>
                <a:latin typeface="Consolas"/>
              </a:defRPr>
            </a:pPr>
            <a:r>
              <a:t>▶ OFFLINE INTEGRITY: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• CPU: 100% Local  |  Cloud: Fails without Web  |  NPU: 100% Secure &amp; HIPAA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411480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200" b="1">
                <a:solidFill>
                  <a:srgbClr val="FFD000"/>
                </a:solidFill>
                <a:latin typeface="Consolas"/>
              </a:defRPr>
            </a:pPr>
            <a:r>
              <a:t>QUALCOMM QNN PIPELINE</a:t>
            </a:r>
          </a:p>
          <a:p>
            <a:br/>
            <a:pPr>
              <a:defRPr sz="1050">
                <a:solidFill>
                  <a:srgbClr val="FFFFFF"/>
                </a:solidFill>
                <a:latin typeface="Segoe UI"/>
              </a:defRPr>
            </a:pPr>
            <a:r>
              <a:t>1. Model Quantization:</a:t>
            </a:r>
            <a:br/>
            <a:r>
              <a:t>   11.2 MB FP32 TFLite model quantized to 4.8 MB INT8 weights.</a:t>
            </a:r>
            <a:br/>
            <a:br/>
            <a:r>
              <a:t>2. Qualcomm AI Engine Direct:</a:t>
            </a:r>
            <a:br/>
            <a:r>
              <a:t>   Compiled with QNN SDK (libQnnTfliteDelegate.so).</a:t>
            </a:r>
            <a:br/>
            <a:br/>
            <a:r>
              <a:t>3. Zero Memory Copies:</a:t>
            </a:r>
            <a:br/>
            <a:r>
              <a:t>   Direct camera AHARDWAREBUFFER binding to DSP shared memory.</a:t>
            </a:r>
            <a:br/>
            <a:br/>
            <a:r>
              <a:t>4. iQOO 15 Flagship Synergy:</a:t>
            </a:r>
            <a:br/>
            <a:r>
              <a:t>   Harnesses Hexagon NPU for all-day thermal stability.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D000"/>
                </a:solidFill>
                <a:latin typeface="Consolas"/>
              </a:defRPr>
            </a:pPr>
            <a:r>
              <a:t>10 // ANDROID NATIVE DEPLOYMENT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HOW TO IMPLEMENT SIGNIFY ON AN IQOO ANDROID PHONE</a:t>
            </a:r>
          </a:p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Two clear pathways: Rapid APK packaging for hackathons and the native Jetpack CameraX production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A5F6E"/>
                </a:solidFill>
                <a:latin typeface="Consolas"/>
              </a:defRPr>
            </a:pPr>
            <a:r>
              <a:t>SIGNIFY // iQOO HACKATHON 2026  |  PHONE-FIRST ON-DEVICE AI  |  QUALCOMM SNAPDRAGON HEXAGON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200" b="1">
                <a:solidFill>
                  <a:srgbClr val="FFD000"/>
                </a:solidFill>
                <a:latin typeface="Consolas"/>
              </a:defRPr>
            </a:pPr>
            <a:r>
              <a:t>PATH A: CAPACITOR APK PACKAGING (FASTEST)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Converting Vite / React into a Standalone Android APK</a:t>
            </a:r>
          </a:p>
          <a:p>
            <a:br/>
            <a:pPr>
              <a:defRPr sz="1050">
                <a:solidFill>
                  <a:srgbClr val="9CA3AF"/>
                </a:solidFill>
                <a:latin typeface="Segoe UI"/>
              </a:defRPr>
            </a:pPr>
            <a:r>
              <a:t>• Install Capacitor CLI: @capacitor/core &amp; @capacitor/android.</a:t>
            </a:r>
            <a:br/>
            <a:r>
              <a:t>• Initialize Project: npx cap init "Signify" com.signify.app.</a:t>
            </a:r>
            <a:br/>
            <a:r>
              <a:t>• Manifest Permissions: Camera, Audio, Vibrator &amp; Internet access.</a:t>
            </a:r>
            <a:br/>
            <a:r>
              <a:t>• Build &amp; Install: Generates release .apk directly from Android Studio.</a:t>
            </a:r>
            <a:br/>
            <a:r>
              <a:t>• Judge Zero-Install (PWA): Also installable directly from Vercel via Chrome as a full-screen WebAPK with no URL bar!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200" b="1">
                <a:solidFill>
                  <a:srgbClr val="06B6D4"/>
                </a:solidFill>
                <a:latin typeface="Consolas"/>
              </a:defRPr>
            </a:pPr>
            <a:r>
              <a:t>PATH B: PRODUCTION NATIVE ANDROID STACK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Deep iQOO Hardware &amp; OS Integration</a:t>
            </a:r>
          </a:p>
          <a:p>
            <a:br/>
            <a:pPr>
              <a:defRPr sz="1050">
                <a:solidFill>
                  <a:srgbClr val="FFFFFF"/>
                </a:solidFill>
                <a:latin typeface="Segoe UI"/>
              </a:defRPr>
            </a:pPr>
            <a:r>
              <a:t>• CameraX ImageAnalysis: 60 FPS zero-copy YUV stream from iQOO sensor.</a:t>
            </a:r>
            <a:br/>
            <a:r>
              <a:t>• MediaPipe Tasks Vision SDK: Native Android HandLandmarker extraction.</a:t>
            </a:r>
            <a:br/>
            <a:r>
              <a:t>• TFLite QNN Delegate: Offloads 250-class inference to Hexagon NPU.</a:t>
            </a:r>
            <a:br/>
            <a:r>
              <a:t>• Android VibratorService: Precise linear resonant haptic confirmations.</a:t>
            </a:r>
            <a:br/>
            <a:r>
              <a:t>• Android TextToSpeech: Low-latency offline vocal broadcast.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D000"/>
                </a:solidFill>
                <a:latin typeface="Consolas"/>
              </a:defRPr>
            </a:pPr>
            <a:r>
              <a:t>11 // HARDWARE ADVANTAGE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WHY IQOO IS UNIQUELY POSITIONED FOR ACCESSIBILITY</a:t>
            </a:r>
          </a:p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Signify transforms an everyday flagship phone into life-saving assistive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A5F6E"/>
                </a:solidFill>
                <a:latin typeface="Consolas"/>
              </a:defRPr>
            </a:pPr>
            <a:r>
              <a:t>SIGNIFY // iQOO HACKATHON 2026  |  PHONE-FIRST ON-DEVICE AI  |  QUALCOMM SNAPDRAGON HEXAGON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100" b="1">
                <a:solidFill>
                  <a:srgbClr val="FFD000"/>
                </a:solidFill>
                <a:latin typeface="Consolas"/>
              </a:defRPr>
            </a:pPr>
            <a:r>
              <a:t>SNAPDRAGON NPU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ON-DEVICE TENSOR MATH</a:t>
            </a:r>
          </a:p>
          <a:p>
            <a:br/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• Heavy 543-landmark Transformer math runs continuously without thermal throttling.</a:t>
            </a:r>
          </a:p>
          <a:p>
            <a:br/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• Sub-18ms latency ensures real-time feedback with zero cloud dependency.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100" b="1">
                <a:solidFill>
                  <a:srgbClr val="06B6D4"/>
                </a:solidFill>
                <a:latin typeface="Consolas"/>
              </a:defRPr>
            </a:pPr>
            <a:r>
              <a:t>HIGH-FPS VISION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LOW-LIGHT CLARITY</a:t>
            </a:r>
          </a:p>
          <a:p>
            <a:br/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• High frame-rate vision ingest with high dynamic range in dim triage rooms.</a:t>
            </a:r>
          </a:p>
          <a:p>
            <a:br/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• Captures fast, subtle finger articulations and micro-expressions.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STEREO AUDIO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POWERFUL PROJECTION</a:t>
            </a:r>
          </a:p>
          <a:p>
            <a:br/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• Dual stereo speakers project synthesized voices in noisy traffic or busy hospitals.</a:t>
            </a:r>
          </a:p>
          <a:p>
            <a:br/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• Dual-mic array with directional noise cancellation for clear speech pickup.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vivo OFFICE KIT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DESKTOP BRIDGE</a:t>
            </a:r>
          </a:p>
          <a:p>
            <a:br/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• Connects iQOO phone with laptops via vivo/iQOO Office Kit.</a:t>
            </a:r>
          </a:p>
          <a:p>
            <a:br/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• Streams live sign translations directly into Zoom, Teams, and Google Meet.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D000"/>
                </a:solidFill>
                <a:latin typeface="Consolas"/>
              </a:defRPr>
            </a:pPr>
            <a:r>
              <a:t>12 // PRODUCTION TIMELINE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FROM PROTOTYPE TO SYSTEM-LEVEL ACCESSIBILITY APP</a:t>
            </a:r>
          </a:p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A phased execution plan moving from our working prototype to system-wide OriginOS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A5F6E"/>
                </a:solidFill>
                <a:latin typeface="Consolas"/>
              </a:defRPr>
            </a:pPr>
            <a:r>
              <a:t>SIGNIFY // iQOO HACKATHON 2026  |  PHONE-FIRST ON-DEVICE AI  |  QUALCOMM SNAPDRAGON HEXAGON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PHASE 1 (COMPLETED)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WEB PROTOTYPE &amp; CLOUD ML</a:t>
            </a:r>
          </a:p>
          <a:p>
            <a:br/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Live Vercel prototype deployed.</a:t>
            </a:r>
          </a:p>
          <a:p>
            <a:br/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FastAPI + TFLite backend on Render.</a:t>
            </a:r>
          </a:p>
          <a:p>
            <a:br/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250 authentic Kaggle classes.</a:t>
            </a:r>
          </a:p>
          <a:p>
            <a:br/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70% confidence safety gating.</a:t>
            </a:r>
          </a:p>
          <a:p>
            <a:br/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Sentence context builder live.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950" b="1">
                <a:solidFill>
                  <a:srgbClr val="FFD000"/>
                </a:solidFill>
                <a:latin typeface="Consolas"/>
              </a:defRPr>
            </a:pPr>
            <a:r>
              <a:t>PHASE 2 (NEXT 60 DAYS)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NATIVE ANDROID &amp; NPU</a:t>
            </a:r>
          </a:p>
          <a:p>
            <a:br/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Capacitor APK packaging.</a:t>
            </a:r>
          </a:p>
          <a:p>
            <a:br/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CameraX + MediaPipe Android SDK.</a:t>
            </a:r>
          </a:p>
          <a:p>
            <a:br/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Compile Qualcomm QNN delegate for Snapdragon Hexagon NPU.</a:t>
            </a:r>
          </a:p>
          <a:p>
            <a:br/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Battery optimization (&lt;0.45W draw).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PHASE 3 (6 MONTHS)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CONTINUOUS SIGN RECOGNITION</a:t>
            </a:r>
          </a:p>
          <a:p>
            <a:br/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Expand from isolated signs to continuous fluid sign recognition.</a:t>
            </a:r>
          </a:p>
          <a:p>
            <a:br/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Multi-language support (ISL, BSL, ASL).</a:t>
            </a:r>
          </a:p>
          <a:p>
            <a:br/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Custom medical dictionary expansion.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950" b="1">
                <a:solidFill>
                  <a:srgbClr val="FFFFFF"/>
                </a:solidFill>
                <a:latin typeface="Consolas"/>
              </a:defRPr>
            </a:pPr>
            <a:r>
              <a:t>PHASE 4 (1 YEAR)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OriginOS SYSTEM SERVICE</a:t>
            </a:r>
          </a:p>
          <a:p>
            <a:br/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System-level accessibility trigger (triple-press power button).</a:t>
            </a:r>
          </a:p>
          <a:p>
            <a:br/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Floating PiP bubble over video calls.</a:t>
            </a:r>
          </a:p>
          <a:p>
            <a:br/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iQOO ecosystem wearable haptic integration.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D000"/>
                </a:solidFill>
                <a:latin typeface="Consolas"/>
              </a:defRPr>
            </a:pPr>
            <a:r>
              <a:t>13 // CLOSING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COMMUNICATION IS A HUMAN RIGHT</a:t>
            </a:r>
          </a:p>
          <a:p>
            <a:pPr>
              <a:defRPr sz="1100">
                <a:solidFill>
                  <a:srgbClr val="9CA3AF"/>
                </a:solidFill>
                <a:latin typeface="Segoe UI"/>
              </a:defRPr>
            </a:pPr>
            <a:r>
              <a:t>Signify proves that accessible on-device AI can bridge worlds without expensive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5A5F6E"/>
                </a:solidFill>
                <a:latin typeface="Consolas"/>
              </a:defRPr>
            </a:pPr>
            <a:r>
              <a:t>SIGNIFY // iQOO HACKATHON 2026  |  PHONE-FIRST ON-DEVICE AI  |  QUALCOMM SNAPDRAGON HEXAGON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3151C"/>
          </a:solidFill>
          <a:ln w="1524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/>
          <a:lstStyle/>
          <a:p>
            <a:pPr algn="ctr">
              <a:defRPr sz="3600" b="1">
                <a:solidFill>
                  <a:srgbClr val="FFD000"/>
                </a:solidFill>
                <a:latin typeface="Segoe UI"/>
              </a:defRPr>
            </a:pPr>
            <a:r>
              <a:t>LET THE SILENCE BE HEARD.</a:t>
            </a:r>
          </a:p>
          <a:p>
            <a:br/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Over 70 million people are waiting for technology to treat their language with dignity.</a:t>
            </a:r>
            <a:br/>
            <a:r>
              <a:t>Signify combines Qualcomm Snapdragon NPU performance, 70% confidence safety gating, and phone-first ergonomics to deliver immediate, two-way conversational freedom.</a:t>
            </a:r>
          </a:p>
          <a:p>
            <a:br/>
            <a:pPr>
              <a:defRPr sz="1150" b="1">
                <a:solidFill>
                  <a:srgbClr val="06B6D4"/>
                </a:solidFill>
                <a:latin typeface="Consolas"/>
              </a:defRPr>
            </a:pPr>
            <a:r>
              <a:t>▶ LIVE PROTOTYPE: Test deployed web application on Vercel.</a:t>
            </a:r>
            <a:br/>
            <a:r>
              <a:t>▶ ML BACKEND: Live on Render (https://signifyprototype.onrender.com).</a:t>
            </a:r>
            <a:br/>
            <a:r>
              <a:t>▶ CODE REPOSITORY: https://github.com/WHENKEY2007/signifyprototype</a:t>
            </a:r>
            <a:br/>
            <a:r>
              <a:t>▶ HARDWARE TARGET: Qualcomm Snapdragon Hexagon NPU (iQOO 15 Flagship).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