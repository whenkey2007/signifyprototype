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 Venkatesh" userId="7cd32b2713a94b6c" providerId="LiveId" clId="{20550375-D98B-4940-852A-80638A7DFC8D}"/>
    <pc:docChg chg="modSld">
      <pc:chgData name="Sri Venkatesh" userId="7cd32b2713a94b6c" providerId="LiveId" clId="{20550375-D98B-4940-852A-80638A7DFC8D}" dt="2026-09-20T12:26:59.494" v="0" actId="14100"/>
      <pc:docMkLst>
        <pc:docMk/>
      </pc:docMkLst>
      <pc:sldChg chg="modSp mod">
        <pc:chgData name="Sri Venkatesh" userId="7cd32b2713a94b6c" providerId="LiveId" clId="{20550375-D98B-4940-852A-80638A7DFC8D}" dt="2026-09-20T12:26:59.494" v="0" actId="14100"/>
        <pc:sldMkLst>
          <pc:docMk/>
          <pc:sldMk cId="0" sldId="256"/>
        </pc:sldMkLst>
        <pc:picChg chg="mod">
          <ac:chgData name="Sri Venkatesh" userId="7cd32b2713a94b6c" providerId="LiveId" clId="{20550375-D98B-4940-852A-80638A7DFC8D}" dt="2026-09-20T12:26:59.494" v="0" actId="14100"/>
          <ac:picMkLst>
            <pc:docMk/>
            <pc:sldMk cId="0" sldId="256"/>
            <ac:picMk id="58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201696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38912"/>
            <a:ext cx="1957267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dirty="0" err="1">
                <a:solidFill>
                  <a:srgbClr val="FFD000"/>
                </a:solidFill>
                <a:latin typeface="Consolas"/>
              </a:rPr>
              <a:t>iQOO</a:t>
            </a:r>
            <a:r>
              <a:rPr sz="850" b="1" dirty="0">
                <a:solidFill>
                  <a:srgbClr val="FFD000"/>
                </a:solidFill>
                <a:latin typeface="Consolas"/>
              </a:rPr>
              <a:t> HACKATHON 2026 // </a:t>
            </a:r>
            <a:r>
              <a:rPr lang="en-US" sz="850" b="1" dirty="0">
                <a:solidFill>
                  <a:srgbClr val="FFD000"/>
                </a:solidFill>
                <a:latin typeface="Consolas"/>
              </a:rPr>
              <a:t>HEALTHTECH</a:t>
            </a:r>
            <a:endParaRPr sz="850" b="1" dirty="0">
              <a:solidFill>
                <a:srgbClr val="FFD000"/>
              </a:solidFill>
              <a:latin typeface="Consola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94360" y="914400"/>
            <a:ext cx="566928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800" b="1">
                <a:solidFill>
                  <a:srgbClr val="F5F5F0"/>
                </a:solidFill>
                <a:latin typeface="Arial Narrow"/>
              </a:rPr>
              <a:t>SIGNIFY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1709928"/>
            <a:ext cx="1051560" cy="7315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1901952"/>
            <a:ext cx="5303520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1">
                <a:solidFill>
                  <a:srgbClr val="F5F5F0"/>
                </a:solidFill>
                <a:latin typeface="Arial Narrow"/>
              </a:rPr>
              <a:t>LET THE SILENCE
BE HEARD.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352044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>
                <a:solidFill>
                  <a:srgbClr val="E8E8E5"/>
                </a:solidFill>
                <a:latin typeface="Arial"/>
              </a:rPr>
              <a:t>A phone-first on-device AI bidirectional communication assistant for sign-language users.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" y="4407408"/>
            <a:ext cx="11887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PHONE-FIRST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74519" y="4407408"/>
            <a:ext cx="13258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ON-DEVICE 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73552" y="4407408"/>
            <a:ext cx="14630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BIDIRECTIONAL</a:t>
            </a:r>
          </a:p>
        </p:txBody>
      </p:sp>
      <p:pic>
        <p:nvPicPr>
          <p:cNvPr id="58" name="Picture 57" descr="7bcf8fc7-1b53-4472-b113-76dbe7e29e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019" y="1234440"/>
            <a:ext cx="7935366" cy="380596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01 // THE GAP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WHEN COMMUNICATION
BREAKS, EVERY SECOND MATTERS.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Sign language can be a complete language — but the surrounding conversation may not understand it.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3154680"/>
            <a:ext cx="146304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0">
                <a:solidFill>
                  <a:srgbClr val="F5F5F0"/>
                </a:solidFill>
                <a:latin typeface="Arial"/>
              </a:rPr>
              <a:t>SIGN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" y="3730752"/>
            <a:ext cx="123444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3400" b="0">
                <a:solidFill>
                  <a:srgbClr val="FFD000"/>
                </a:solidFill>
                <a:latin typeface="Arial"/>
              </a:rPr>
              <a:t>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31720" y="340156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3240" y="3063240"/>
            <a:ext cx="91440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5400" b="1">
                <a:solidFill>
                  <a:srgbClr val="FFD000"/>
                </a:solidFill>
                <a:latin typeface="Arial Narrow"/>
              </a:rPr>
              <a:t>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86200" y="340156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17720" y="3154680"/>
            <a:ext cx="214884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5F5F0"/>
                </a:solidFill>
                <a:latin typeface="Arial Narrow"/>
              </a:rPr>
              <a:t>UNDERSTANDING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14400" y="4828032"/>
            <a:ext cx="5806440" cy="0"/>
          </a:xfrm>
          <a:prstGeom prst="line">
            <a:avLst/>
          </a:prstGeom>
          <a:ln w="12700">
            <a:solidFill>
              <a:srgbClr val="4B4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14400" y="5047488"/>
            <a:ext cx="10058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THE GAP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20240" y="4992624"/>
            <a:ext cx="50292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9B9B96"/>
                </a:solidFill>
                <a:latin typeface="Arial"/>
              </a:rPr>
              <a:t>The challenge is not simply recognizing a hand shape.
It is turning a gesture into usable, human communication.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43800" y="3063240"/>
            <a:ext cx="379476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228832" y="30815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08392" y="31729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08392" y="3538728"/>
            <a:ext cx="34655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THE REAL PROBLEM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08392" y="3995928"/>
            <a:ext cx="346557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A classifier can identify a sign.
A communication tool must help two people understand each other.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02 // THE INSIGHT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SIGN RECOGNITION
ISN'T THE END GOAL.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Individual signs become valuable when context turns them into a natural message.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2880360"/>
            <a:ext cx="2103120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816351" y="289864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7552" y="299008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" y="3355848"/>
            <a:ext cx="17739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HELP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" y="3813048"/>
            <a:ext cx="17739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96% CONFIDENCE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44368" y="340156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37560" y="2880360"/>
            <a:ext cx="2103120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330951" y="289864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502152" y="299008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02152" y="3355848"/>
            <a:ext cx="17739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DOCTOR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02152" y="3813048"/>
            <a:ext cx="17739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94% CONFIDENCE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58968" y="340156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97880" y="2880360"/>
            <a:ext cx="2103120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891272" y="289864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62472" y="299008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62472" y="3355848"/>
            <a:ext cx="17739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PAIN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62472" y="3813048"/>
            <a:ext cx="17739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91% CONFIDENCE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19872" y="340156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41080" y="2578608"/>
            <a:ext cx="2834640" cy="20116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1365992" y="259689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805672" y="268833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05672" y="3054096"/>
            <a:ext cx="250545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MEANING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05672" y="3511296"/>
            <a:ext cx="2505456" cy="1280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"I need a doctor.
I'm in pain."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1248" y="4892040"/>
            <a:ext cx="3931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FD000"/>
                </a:solidFill>
                <a:latin typeface="Consolas"/>
              </a:rPr>
              <a:t>FROM GESTURE → MEANING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" y="5303520"/>
            <a:ext cx="65836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>
                <a:solidFill>
                  <a:srgbClr val="F5F5F0"/>
                </a:solidFill>
                <a:latin typeface="Arial"/>
              </a:rPr>
              <a:t>Signify is designed around the conversation, not just the prediction.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03 // THE PRODUCT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MEET SIGNIFY.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A phone-first communication bridge: see the sign, understand the context, speak the message.</a:t>
            </a:r>
          </a:p>
        </p:txBody>
      </p:sp>
      <p:pic>
        <p:nvPicPr>
          <p:cNvPr id="54" name="Picture 53" descr="7bcf8fc7-1b53-4472-b113-76dbe7e29e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64051"/>
            <a:ext cx="5394960" cy="2455578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685800" y="2788920"/>
            <a:ext cx="155448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13055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039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" y="3264408"/>
            <a:ext cx="1225295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SEE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" y="3721608"/>
            <a:ext cx="1225295" cy="1234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Camera-based
gesture input.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3160" y="2788920"/>
            <a:ext cx="155448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867911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58775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87752" y="3264408"/>
            <a:ext cx="1225295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UNDERSTAND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87752" y="3721608"/>
            <a:ext cx="1225295" cy="1234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Confidence +
context.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60520" y="2788920"/>
            <a:ext cx="155448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60527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32511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25112" y="3264408"/>
            <a:ext cx="1225295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SPEAK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25112" y="3721608"/>
            <a:ext cx="1225295" cy="12344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Natural voice
output.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" y="5166360"/>
            <a:ext cx="493776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00" b="1">
                <a:solidFill>
                  <a:srgbClr val="F5F5F0"/>
                </a:solidFill>
                <a:latin typeface="Arial Narrow"/>
              </a:rPr>
              <a:t>COMMUNICATION WITHOUT BARRIERS.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04 // THE EXPERIENCE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ONE PHONE.
ONE CONVERSATION.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The product flow is intentionally simple enough to understand at a glance.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2697480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01 / CHOOSE</a:t>
            </a:r>
          </a:p>
        </p:txBody>
      </p:sp>
      <p:pic>
        <p:nvPicPr>
          <p:cNvPr id="55" name="Picture 54" descr="1131dd62-b08c-4708-b758-33558f596b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83" y="2971800"/>
            <a:ext cx="1969393" cy="2971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383280" y="2697480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02 / CONTEXT</a:t>
            </a:r>
          </a:p>
        </p:txBody>
      </p:sp>
      <p:pic>
        <p:nvPicPr>
          <p:cNvPr id="57" name="Picture 56" descr="77fa9d20-a0fb-4a40-85ae-7d42a2be7d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371" y="2971800"/>
            <a:ext cx="1899537" cy="29718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263640" y="2697480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03 / RECOGNIZE</a:t>
            </a:r>
          </a:p>
        </p:txBody>
      </p:sp>
      <p:pic>
        <p:nvPicPr>
          <p:cNvPr id="59" name="Picture 58" descr="d9532ba4-a589-46a4-bcfc-8493244b2a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567" y="2971800"/>
            <a:ext cx="1907866" cy="29718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144000" y="2697480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04 / COMPOSE</a:t>
            </a:r>
          </a:p>
        </p:txBody>
      </p:sp>
      <p:pic>
        <p:nvPicPr>
          <p:cNvPr id="61" name="Picture 60" descr="9496a69f-7dea-4388-87e8-0dcf0c956f7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3304" y="2971800"/>
            <a:ext cx="1933112" cy="29718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05 // DEMO MODE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BUILT FOR
REAL MOMENTS.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A focused vocabulary makes the demo predictable, meaningful, and easy to evaluate.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2788920"/>
            <a:ext cx="6400800" cy="84124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93115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4671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1" y="3264408"/>
            <a:ext cx="6071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HOSPITAL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1" y="3721608"/>
            <a:ext cx="6071616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HELP • DOCTOR • PAIN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3291839"/>
            <a:ext cx="2011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B9B96"/>
                </a:solidFill>
                <a:latin typeface="Consolas"/>
              </a:rPr>
              <a:t>Essential healthcare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3813048"/>
            <a:ext cx="6400800" cy="84124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931152" y="3831335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04671" y="392277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671" y="4288536"/>
            <a:ext cx="6071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EMERGENCY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1" y="4745736"/>
            <a:ext cx="6071616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HELP • AMBULANCE • DANGER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4315968"/>
            <a:ext cx="2011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B9B96"/>
                </a:solidFill>
                <a:latin typeface="Consolas"/>
              </a:rPr>
              <a:t>Fast critical communication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4837176"/>
            <a:ext cx="6400800" cy="84124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931152" y="4855464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4671" y="4946904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671" y="5312664"/>
            <a:ext cx="6071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DAILY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1" y="5769864"/>
            <a:ext cx="6071616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HELLO • THANK YOU • YES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5340096"/>
            <a:ext cx="20116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9B9B96"/>
                </a:solidFill>
                <a:latin typeface="Consolas"/>
              </a:rPr>
              <a:t>Everyday conversation</a:t>
            </a:r>
          </a:p>
        </p:txBody>
      </p:sp>
      <p:pic>
        <p:nvPicPr>
          <p:cNvPr id="72" name="Picture 71" descr="77fa9d20-a0fb-4a40-85ae-7d42a2be7d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174" y="2468880"/>
            <a:ext cx="2484010" cy="38862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06 // LIVE INTERPRETER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SEE → RECOGNIZE → RESPOND.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E8E8E5"/>
                </a:solidFill>
                <a:latin typeface="Arial"/>
              </a:rPr>
              <a:t>Camera captures 21-point hand skeleton with Snapdragon NPU 18ms inference and silent haptic vibration confirmation.</a:t>
            </a:r>
          </a:p>
        </p:txBody>
      </p:sp>
      <p:pic>
        <p:nvPicPr>
          <p:cNvPr id="54" name="Picture 53" descr="d9532ba4-a589-46a4-bcfc-8493244b2a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953" y="2423160"/>
            <a:ext cx="2847124" cy="443484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5806440" y="2606040"/>
            <a:ext cx="1828800" cy="15087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525512" y="26243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71031" y="27157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71031" y="3081528"/>
            <a:ext cx="1499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CAMERA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71031" y="3538728"/>
            <a:ext cx="1499616" cy="7772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Gesture tracked
in frame.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09560" y="2606040"/>
            <a:ext cx="1828800" cy="15087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628632" y="26243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074152" y="27157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74152" y="3081528"/>
            <a:ext cx="1499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AI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74152" y="3538728"/>
            <a:ext cx="1499616" cy="7772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Sign candidate
identified.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12680" y="2606040"/>
            <a:ext cx="1554480" cy="15087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1457432" y="26243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177272" y="27157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77272" y="3081528"/>
            <a:ext cx="1225295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GATE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77272" y="3538728"/>
            <a:ext cx="1225295" cy="7772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96%
accepted.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97880" y="4572000"/>
            <a:ext cx="20116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FFD000"/>
                </a:solidFill>
                <a:latin typeface="Consolas"/>
              </a:rPr>
              <a:t>DETECTED SIGN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52160" y="4892040"/>
            <a:ext cx="210312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400" b="0">
                <a:solidFill>
                  <a:srgbClr val="F5F5F0"/>
                </a:solidFill>
                <a:latin typeface="Arial"/>
              </a:rPr>
              <a:t>HELP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97880" y="5577840"/>
            <a:ext cx="51206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9B9B96"/>
                </a:solidFill>
                <a:latin typeface="Consolas"/>
              </a:rPr>
              <a:t>HIGH CONFIDENCE  //  SAFE FOR AUTO-ASSEMBLY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07 // TRUST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NOT EVERY PREDICTION
SHOULD BECOME A SENTENCE.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E8E8E5"/>
                </a:solidFill>
                <a:latin typeface="Arial"/>
              </a:rPr>
              <a:t>Signify treats uncertainty as a product state: 2 quick haptic pulses tell the deaf signer to repeat without breaking eye contact.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" y="2788920"/>
            <a:ext cx="3108960" cy="23317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8503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3264408"/>
            <a:ext cx="27797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HELP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" y="3721608"/>
            <a:ext cx="2779776" cy="1600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96%  /  HIGH CONFIDENCE
AUTO-ASSEMBLE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60520" y="2788920"/>
            <a:ext cx="3108960" cy="23317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159751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2511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25112" y="3264408"/>
            <a:ext cx="27797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DOCTOR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25112" y="3721608"/>
            <a:ext cx="2779776" cy="1600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94%  /  HIGH CONFIDENCE
AUTO-ASSEMBLE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35240" y="2788920"/>
            <a:ext cx="3566160" cy="23317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09167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799831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99831" y="3264408"/>
            <a:ext cx="32369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WATER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99831" y="3721608"/>
            <a:ext cx="3236976" cy="16001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58%  /  NOT CONFIDENT
TRY AGAIN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18120" y="4617720"/>
            <a:ext cx="1097280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13232" y="5532120"/>
            <a:ext cx="1828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GATING THRESHOLD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31720" y="5504688"/>
            <a:ext cx="7772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1">
                <a:solidFill>
                  <a:srgbClr val="9B9B96"/>
                </a:solidFill>
                <a:latin typeface="Consolas"/>
              </a:rPr>
              <a:t>HIGH CONFIDENCE → ACCEPT   |   LOW CONFIDENCE → RETRY / CONFIRM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08 // CONTEXT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RECOGNITION
BECOMES CONVERSATION.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The sentence builder combines recognized signs into a message a person can actually use.</a:t>
            </a:r>
          </a:p>
        </p:txBody>
      </p:sp>
      <p:pic>
        <p:nvPicPr>
          <p:cNvPr id="54" name="Picture 53" descr="9496a69f-7dea-4388-87e8-0dcf0c956f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240" y="2331719"/>
            <a:ext cx="2848175" cy="437853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97880" y="2743200"/>
            <a:ext cx="14630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FD000"/>
                </a:solidFill>
                <a:latin typeface="Consolas"/>
              </a:rPr>
              <a:t>3 SIGNS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3154680"/>
            <a:ext cx="52120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00" b="1">
                <a:solidFill>
                  <a:srgbClr val="F5F5F0"/>
                </a:solidFill>
                <a:latin typeface="Arial Narrow"/>
              </a:rPr>
              <a:t>HELP  +  DOCTOR  +  PAIN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897880" y="3703320"/>
            <a:ext cx="4892040" cy="0"/>
          </a:xfrm>
          <a:prstGeom prst="line">
            <a:avLst/>
          </a:prstGeom>
          <a:ln w="12700">
            <a:solidFill>
              <a:srgbClr val="4B4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897880" y="4005072"/>
            <a:ext cx="25603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FFD000"/>
                </a:solidFill>
                <a:latin typeface="Consolas"/>
              </a:rPr>
              <a:t>1 NATURAL MESSAGE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97880" y="4434840"/>
            <a:ext cx="475488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700" b="0">
                <a:solidFill>
                  <a:srgbClr val="F5F5F0"/>
                </a:solidFill>
                <a:latin typeface="Arial"/>
              </a:rPr>
              <a:t>"I NEED A DOCTOR.
I'M IN PAIN."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97880" y="5596128"/>
            <a:ext cx="4389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1">
                <a:solidFill>
                  <a:srgbClr val="9B9B96"/>
                </a:solidFill>
                <a:latin typeface="Consolas"/>
              </a:rPr>
              <a:t>CONTEXT BUILDER  //  HIGH CONFIDENCE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09 // BIDIRECTIONAL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COMMUNICATION
GOES BOTH WAYS.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E8E8E5"/>
                </a:solidFill>
                <a:latin typeface="Arial"/>
              </a:rPr>
              <a:t>A true bidirectional bridge: forward sign-to-speech for the listener, and reverse speech-to-text with oversized visual text for the signer.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" y="2788920"/>
            <a:ext cx="274320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31927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3264408"/>
            <a:ext cx="24140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SIGN → SPEECH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" y="3721608"/>
            <a:ext cx="241401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Gesture
↓
AI interpretation
↓
Natural speech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94760" y="2788920"/>
            <a:ext cx="274320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428232" y="280720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959352" y="289864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59352" y="3264408"/>
            <a:ext cx="24140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SPEECH → TEXT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59352" y="3721608"/>
            <a:ext cx="2414016" cy="1417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Spoken audio
↓
Transcription
↓
Readable text</a:t>
            </a:r>
          </a:p>
        </p:txBody>
      </p:sp>
      <p:pic>
        <p:nvPicPr>
          <p:cNvPr id="64" name="Picture 63" descr="4df06497-7816-4738-af5e-211014833f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056" y="1078996"/>
            <a:ext cx="3363967" cy="5001765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10 // ON-DEVICE 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THE NPU IS THE
FAST PATH TO SIGNIFY.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Local model inference keeps camera input close to the device and is aligned with the hackathon's phone-first architecture.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2834640"/>
            <a:ext cx="1874519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176272" y="28529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72" y="29443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" y="331012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CAMERA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" y="3767328"/>
            <a:ext cx="15453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frames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13432" y="336499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0" y="2834640"/>
            <a:ext cx="1874519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507992" y="28529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907792" y="29443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07792" y="331012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PREPROCESS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07792" y="3767328"/>
            <a:ext cx="15453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crop / normalize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45152" y="336499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74920" y="2834640"/>
            <a:ext cx="1874519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839712" y="28529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39512" y="29443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39512" y="331012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NPU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9512" y="3767328"/>
            <a:ext cx="15453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local model inference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76872" y="336499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2834640"/>
            <a:ext cx="1874519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71432" y="28529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571231" y="29443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71231" y="331012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GATE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71231" y="3767328"/>
            <a:ext cx="15453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confidence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08592" y="336499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38360" y="2834640"/>
            <a:ext cx="1874519" cy="141732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503152" y="28529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902952" y="29443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02952" y="331012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OUTPUT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02952" y="3767328"/>
            <a:ext cx="1545336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text + speech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" y="4617720"/>
            <a:ext cx="2423160" cy="114300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2953511" y="4636007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04671" y="4800600"/>
            <a:ext cx="20939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LOW LATENCY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1" y="5257800"/>
            <a:ext cx="2093976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Targeting &lt; 18ms inference latency directly on Snapdragon NPU.</a:t>
            </a:r>
          </a:p>
          <a:p>
            <a:pPr algn="l"/>
            <a:endParaRPr sz="1000" b="0">
              <a:solidFill>
                <a:srgbClr val="9B9B96"/>
              </a:solidFill>
              <a:latin typeface="Arial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337560" y="4617720"/>
            <a:ext cx="2423160" cy="114300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650992" y="4636007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502152" y="4800600"/>
            <a:ext cx="20939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PRIVACY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02152" y="5257800"/>
            <a:ext cx="2093976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100% offline HIPAA privacy — zero video frames leave device (0 KB/s data).</a:t>
            </a:r>
          </a:p>
          <a:p>
            <a:pPr algn="l"/>
            <a:endParaRPr sz="1000" b="0">
              <a:solidFill>
                <a:srgbClr val="9B9B96"/>
              </a:solidFill>
              <a:latin typeface="Arial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035040" y="4617720"/>
            <a:ext cx="2423160" cy="114300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348472" y="4636007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199631" y="4800600"/>
            <a:ext cx="20939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EFFICIENCY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99631" y="5257800"/>
            <a:ext cx="2093976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&lt; 45MB INT8 quantized</a:t>
            </a:r>
          </a:p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model for mobile NPU.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732520" y="4617720"/>
            <a:ext cx="2423160" cy="114300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1045952" y="4636007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897112" y="4800600"/>
            <a:ext cx="209397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PHONE-FIRST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97112" y="5257800"/>
            <a:ext cx="2093976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Instant real-time loop with</a:t>
            </a:r>
          </a:p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zero network dependency.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0080" y="5989320"/>
            <a:ext cx="8686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1">
                <a:solidFill>
                  <a:srgbClr val="FFD000"/>
                </a:solidFill>
                <a:latin typeface="Consolas"/>
              </a:rPr>
              <a:t>IMPLEMENTATION TARGET: LOCAL / OPEN-SOURCE MODEL → SNAPDRAGON NPU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" y="6263640"/>
            <a:ext cx="10515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0">
                <a:solidFill>
                  <a:srgbClr val="9B9B96"/>
                </a:solidFill>
                <a:latin typeface="Consolas"/>
              </a:rPr>
              <a:t>* Prototype UI currently simulates recognition; the NPU layer is the real-device integration target.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2729" y="340687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11 // WHY THE PHONE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7270" y="591112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 dirty="0">
                <a:solidFill>
                  <a:srgbClr val="F5F5F0"/>
                </a:solidFill>
                <a:latin typeface="Arial Narrow"/>
              </a:rPr>
              <a:t>THE PHONE
ISN'T THE SCREEN.
IT'S THE SYSTEM.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7270" y="2324928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4442" y="2676822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 dirty="0">
                <a:solidFill>
                  <a:srgbClr val="9B9B96"/>
                </a:solidFill>
                <a:latin typeface="Arial"/>
              </a:rPr>
              <a:t>Signify is designed around the capabilities that make a phone the natural communication bridge.</a:t>
            </a:r>
          </a:p>
        </p:txBody>
      </p:sp>
      <p:pic>
        <p:nvPicPr>
          <p:cNvPr id="54" name="Picture 53" descr="7bcf8fc7-1b53-4472-b113-76dbe7e29e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787" y="3853444"/>
            <a:ext cx="3246120" cy="1477509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676657" y="3234470"/>
            <a:ext cx="2788920" cy="102412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399052" y="49507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3028" y="3376005"/>
            <a:ext cx="24597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CAMERA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566" y="3943130"/>
            <a:ext cx="245973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SEE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484653" y="4041647"/>
            <a:ext cx="960120" cy="0"/>
          </a:xfrm>
          <a:prstGeom prst="line">
            <a:avLst/>
          </a:prstGeom>
          <a:ln w="12700">
            <a:solidFill>
              <a:srgbClr val="FFD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95733" y="4688709"/>
            <a:ext cx="2788920" cy="102412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446837" y="398491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2498" y="4831178"/>
            <a:ext cx="24597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F5F5F0"/>
                </a:solidFill>
                <a:latin typeface="Arial Narrow"/>
              </a:rPr>
              <a:t>ON-DEVICE AI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4042" y="5237152"/>
            <a:ext cx="245973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UNDERSTAND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484653" y="5001767"/>
            <a:ext cx="960120" cy="0"/>
          </a:xfrm>
          <a:prstGeom prst="line">
            <a:avLst/>
          </a:prstGeom>
          <a:ln w="12700">
            <a:solidFill>
              <a:srgbClr val="FFD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8458200" y="3420608"/>
            <a:ext cx="2788920" cy="102412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666998" y="4187855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98497" y="3586955"/>
            <a:ext cx="24597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F5F5F0"/>
                </a:solidFill>
                <a:latin typeface="Arial Narrow"/>
              </a:rPr>
              <a:t>MICROPHONE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71162" y="4122409"/>
            <a:ext cx="245973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LISTEN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680960" y="4235738"/>
            <a:ext cx="777240" cy="0"/>
          </a:xfrm>
          <a:prstGeom prst="line">
            <a:avLst/>
          </a:prstGeom>
          <a:ln w="12700">
            <a:solidFill>
              <a:srgbClr val="FFD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8458200" y="4617720"/>
            <a:ext cx="2788920" cy="1024128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677073" y="4988594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588914" y="4788826"/>
            <a:ext cx="24597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F5F5F0"/>
                </a:solidFill>
                <a:latin typeface="Arial Narrow"/>
              </a:rPr>
              <a:t>SPEAKER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22792" y="5285232"/>
            <a:ext cx="245973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SPEAK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680960" y="5020251"/>
            <a:ext cx="777240" cy="0"/>
          </a:xfrm>
          <a:prstGeom prst="line">
            <a:avLst/>
          </a:prstGeom>
          <a:ln w="12700">
            <a:solidFill>
              <a:srgbClr val="FFD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749039" y="5989320"/>
            <a:ext cx="46634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PHONE-FIRST / MOBILE / PRIVACY-AWARE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12 //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FROM CAMERA
TO COMMUNICATION.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A modular pipeline keeps recognition, confidence, context, and output as distinct stages.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2971800"/>
            <a:ext cx="1874519" cy="13258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176272" y="29900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72" y="3081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" y="344728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CAMERA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" y="3904487"/>
            <a:ext cx="1545336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gesture input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04288" y="344728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0" y="2971800"/>
            <a:ext cx="1874519" cy="13258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507992" y="29900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907792" y="3081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07792" y="344728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RECOGNITION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07792" y="3904487"/>
            <a:ext cx="1545336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sign candidate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36008" y="344728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74920" y="2971800"/>
            <a:ext cx="1874519" cy="13258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839712" y="29900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39512" y="3081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39512" y="344728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CONFIDENCE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9512" y="3904487"/>
            <a:ext cx="1545336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gate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67727" y="344728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06640" y="2971800"/>
            <a:ext cx="1874519" cy="13258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71432" y="29900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571231" y="3081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71231" y="344728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CONTEXT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71231" y="3904487"/>
            <a:ext cx="1545336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sentence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99448" y="3447288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38360" y="2971800"/>
            <a:ext cx="1874519" cy="132588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503152" y="29900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902952" y="30815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02952" y="3447288"/>
            <a:ext cx="154533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OUTPUT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02952" y="3904487"/>
            <a:ext cx="1545336" cy="59435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B9B96"/>
                </a:solidFill>
                <a:latin typeface="Arial"/>
              </a:rPr>
              <a:t>text + speech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" y="4892040"/>
            <a:ext cx="2011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OFFLINE-FIRST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88920" y="4892040"/>
            <a:ext cx="2011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PRIVACY-AWARE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0640" y="4892040"/>
            <a:ext cx="2011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CONFIDENCE-GATED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52360" y="4892040"/>
            <a:ext cx="2011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HUMAN-FRIENDLY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84080" y="4892040"/>
            <a:ext cx="2011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REAL-TIME READY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13 // TEAM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WE'VE BUILT BEFORE.
WE'VE CONTRIBUTED BEFORE.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Relevant experience gives us a shorter path from idea → prototype → real build.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4724" y="2734056"/>
            <a:ext cx="342900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913632" y="27614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8952" y="28529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" y="3218688"/>
            <a:ext cx="30998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HACKATHON EXPERIENCE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574" y="3694176"/>
            <a:ext cx="3236779" cy="8079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dirty="0" err="1">
                <a:solidFill>
                  <a:srgbClr val="9B9B96"/>
                </a:solidFill>
                <a:latin typeface="Arial"/>
              </a:rPr>
              <a:t>YStart</a:t>
            </a:r>
            <a:r>
              <a:rPr sz="1050" b="0" dirty="0">
                <a:solidFill>
                  <a:srgbClr val="9B9B96"/>
                </a:solidFill>
                <a:latin typeface="Arial"/>
              </a:rPr>
              <a:t>-AI — AI-powered startup idea validation/evaluation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 platform.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
Built during The Hive / </a:t>
            </a:r>
            <a:r>
              <a:rPr sz="1050" b="0" dirty="0" err="1">
                <a:solidFill>
                  <a:srgbClr val="9B9B96"/>
                </a:solidFill>
                <a:latin typeface="Arial"/>
              </a:rPr>
              <a:t>ApplyBee</a:t>
            </a:r>
            <a:r>
              <a:rPr sz="1050" b="0" dirty="0">
                <a:solidFill>
                  <a:srgbClr val="9B9B96"/>
                </a:solidFill>
                <a:latin typeface="Arial"/>
              </a:rPr>
              <a:t> AI hackathon.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70832" y="2743200"/>
            <a:ext cx="342900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690104" y="27614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35424" y="28529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35424" y="3218688"/>
            <a:ext cx="30998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OPEN-SOURCE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32594" y="3676576"/>
            <a:ext cx="3056927" cy="80791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Contributor experience through </a:t>
            </a:r>
            <a:r>
              <a:rPr sz="1050" b="0" dirty="0" err="1">
                <a:solidFill>
                  <a:srgbClr val="9B9B96"/>
                </a:solidFill>
                <a:latin typeface="Arial"/>
              </a:rPr>
              <a:t>GirlScript</a:t>
            </a:r>
            <a:r>
              <a:rPr sz="1050" b="0" dirty="0">
                <a:solidFill>
                  <a:srgbClr val="9B9B96"/>
                </a:solidFill>
                <a:latin typeface="Arial"/>
              </a:rPr>
              <a:t> 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Summer of Code (</a:t>
            </a:r>
            <a:r>
              <a:rPr sz="1050" b="0" dirty="0" err="1">
                <a:solidFill>
                  <a:srgbClr val="9B9B96"/>
                </a:solidFill>
                <a:latin typeface="Arial"/>
              </a:rPr>
              <a:t>GSSoC</a:t>
            </a:r>
            <a:r>
              <a:rPr sz="1050" b="0" dirty="0">
                <a:solidFill>
                  <a:srgbClr val="9B9B96"/>
                </a:solidFill>
                <a:latin typeface="Arial"/>
              </a:rPr>
              <a:t>) 2026.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
Real collaborative development beyond classroom 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projects.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2743200"/>
            <a:ext cx="3429000" cy="214884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457432" y="276148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02752" y="285292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02752" y="3218688"/>
            <a:ext cx="30998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BUILDING MINDSET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02752" y="3675887"/>
            <a:ext cx="3106620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Full-stack + ML experience across computer vision, </a:t>
            </a:r>
            <a:endParaRPr lang="en-US" sz="1050" b="0" dirty="0">
              <a:solidFill>
                <a:srgbClr val="9B9B96"/>
              </a:solidFill>
              <a:latin typeface="Arial"/>
            </a:endParaRPr>
          </a:p>
          <a:p>
            <a:pPr algn="l"/>
            <a:r>
              <a:rPr sz="1050" b="0" dirty="0">
                <a:solidFill>
                  <a:srgbClr val="9B9B96"/>
                </a:solidFill>
                <a:latin typeface="Arial"/>
              </a:rPr>
              <a:t>APIs, AI prototypes and product-focused builds.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321808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FFD000"/>
                </a:solidFill>
                <a:latin typeface="Consolas"/>
              </a:rPr>
              <a:t>TEAM CREDIBILITY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31720" y="5285232"/>
            <a:ext cx="47548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0">
                <a:solidFill>
                  <a:srgbClr val="F5F5F0"/>
                </a:solidFill>
                <a:latin typeface="Arial"/>
              </a:rPr>
              <a:t>IDEATE  →  SHIP  →  ITERATE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" y="5897880"/>
            <a:ext cx="749807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9B9B96"/>
                </a:solidFill>
                <a:latin typeface="Consolas"/>
              </a:rPr>
              <a:t>Proven track record in rapid prototyping, AI product evaluation, and collaborative open-source shipping.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411480"/>
            <a:ext cx="4572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14 // ROADMAP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749808"/>
            <a:ext cx="1069848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700" b="1">
                <a:solidFill>
                  <a:srgbClr val="F5F5F0"/>
                </a:solidFill>
                <a:latin typeface="Arial Narrow"/>
              </a:rPr>
              <a:t>FROM PROTOTYPE
TO EVERYDAY COMMUNICATION.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90195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2084831"/>
            <a:ext cx="100584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0" b="0">
                <a:solidFill>
                  <a:srgbClr val="9B9B96"/>
                </a:solidFill>
                <a:latin typeface="Arial"/>
              </a:rPr>
              <a:t>The current build establishes the interaction model; the next steps deepen real-time recognition and personalization.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2788920"/>
            <a:ext cx="914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NOW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127248"/>
            <a:ext cx="251460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907791" y="314553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7512" y="323697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" y="3602736"/>
            <a:ext cx="21854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INTERACTIVE
PROTOTYPE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4240652"/>
            <a:ext cx="2185416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Interactive prototype, confidence safety-gate, NPU benchmark &amp; triage (Completed)</a:t>
            </a:r>
          </a:p>
          <a:p>
            <a:pPr algn="l"/>
            <a:endParaRPr sz="1000" b="0">
              <a:solidFill>
                <a:srgbClr val="9B9B96"/>
              </a:solidFill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035808" y="3840480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10712" y="2788920"/>
            <a:ext cx="914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NEXT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10712" y="3127248"/>
            <a:ext cx="251460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815584" y="314553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575304" y="323697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75304" y="3602736"/>
            <a:ext cx="21854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REAL-TIME
MODEL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87792" y="4240651"/>
            <a:ext cx="2185416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MediaPipe 21-point tracking + quantized TFLite on Snapdragon Hexagon NPU</a:t>
            </a:r>
          </a:p>
          <a:p>
            <a:pPr algn="l"/>
            <a:endParaRPr sz="1000" b="0">
              <a:solidFill>
                <a:srgbClr val="9B9B96"/>
              </a:solidFill>
              <a:latin typeface="Arial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943600" y="3840480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18504" y="2788920"/>
            <a:ext cx="914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NEXT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18504" y="3127248"/>
            <a:ext cx="251460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723376" y="314553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83096" y="323697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83096" y="3602736"/>
            <a:ext cx="21854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PERSONALIZED
VOCABULARY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83096" y="4240650"/>
            <a:ext cx="2185416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Regional sign vocabulary (ISL &amp; ASL) + contextual sentence builder</a:t>
            </a:r>
          </a:p>
          <a:p>
            <a:pPr algn="l"/>
            <a:endParaRPr sz="1000" b="0">
              <a:solidFill>
                <a:srgbClr val="9B9B96"/>
              </a:solidFill>
              <a:latin typeface="Arial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851392" y="3840480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1">
                <a:solidFill>
                  <a:srgbClr val="FFD000"/>
                </a:solidFill>
                <a:latin typeface="Arial Narrow"/>
              </a:rPr>
              <a:t>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26296" y="2788920"/>
            <a:ext cx="9144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VISION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17152" y="3127248"/>
            <a:ext cx="2514600" cy="1965960"/>
          </a:xfrm>
          <a:prstGeom prst="rect">
            <a:avLst/>
          </a:prstGeom>
          <a:solidFill>
            <a:srgbClr val="121212"/>
          </a:solidFill>
          <a:ln w="1016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1631168" y="314553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390888" y="323697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00" b="1">
                <a:solidFill>
                  <a:srgbClr val="FFD000"/>
                </a:solidFill>
                <a:latin typeface="Arial Narrow"/>
              </a:rPr>
              <a:t>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90888" y="3602736"/>
            <a:ext cx="21854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5F5F0"/>
                </a:solidFill>
                <a:latin typeface="Arial Narrow"/>
              </a:rPr>
              <a:t>EVERYDAY
ASSISTANT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90888" y="4239862"/>
            <a:ext cx="2185416" cy="1234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B9B96"/>
                </a:solidFill>
                <a:latin typeface="Arial"/>
              </a:rPr>
              <a:t>Foldable dual-screen mode + wearable silent haptic confirmation alerts</a:t>
            </a:r>
          </a:p>
          <a:p>
            <a:pPr algn="l"/>
            <a:endParaRPr sz="1000" b="0">
              <a:solidFill>
                <a:srgbClr val="9B9B96"/>
              </a:solidFill>
              <a:latin typeface="Arial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444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502920"/>
            <a:ext cx="1828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>
                <a:solidFill>
                  <a:srgbClr val="FFD000"/>
                </a:solidFill>
                <a:latin typeface="Consolas"/>
              </a:rPr>
              <a:t>15 // CLOSING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960120"/>
            <a:ext cx="6035040" cy="2057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200" b="0">
                <a:solidFill>
                  <a:srgbClr val="F5F5F0"/>
                </a:solidFill>
                <a:latin typeface="Arial"/>
              </a:rPr>
              <a:t>EVERYONE
DESERVES
TO BE HEARD.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" y="3200400"/>
            <a:ext cx="1005840" cy="7315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3493008"/>
            <a:ext cx="5303520" cy="1143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0">
                <a:solidFill>
                  <a:srgbClr val="F5F5F0"/>
                </a:solidFill>
                <a:latin typeface="Arial"/>
              </a:rPr>
              <a:t>LET THE SILENCE
BE HEARD.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" y="4983480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FD000"/>
                </a:solidFill>
                <a:latin typeface="Arial Narrow"/>
              </a:rP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" y="5468112"/>
            <a:ext cx="42976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>
                <a:solidFill>
                  <a:srgbClr val="9B9B96"/>
                </a:solidFill>
                <a:latin typeface="Consolas"/>
              </a:rPr>
              <a:t>COMMUNICATION WITHOUT BARRIERS.</a:t>
            </a:r>
          </a:p>
        </p:txBody>
      </p:sp>
      <p:pic>
        <p:nvPicPr>
          <p:cNvPr id="56" name="Picture 55" descr="9496a69f-7dea-4388-87e8-0dcf0c956f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938" y="411480"/>
            <a:ext cx="3717524" cy="57150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0" b="1">
                <a:solidFill>
                  <a:srgbClr val="9B9B96"/>
                </a:solidFill>
                <a:latin typeface="Consolas"/>
              </a:rPr>
              <a:t>SIGNIFY // LET THE SILENCE BE HEARD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6510528"/>
            <a:ext cx="26060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1">
                <a:solidFill>
                  <a:srgbClr val="FFD000"/>
                </a:solidFill>
                <a:latin typeface="Consolas"/>
              </a:rPr>
              <a:t>iQOO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1101</Words>
  <Application>Microsoft Office PowerPoint</Application>
  <PresentationFormat>Widescreen</PresentationFormat>
  <Paragraphs>275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Narrow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 Venkatesh</dc:creator>
  <cp:keywords/>
  <dc:description>generated using python-pptx</dc:description>
  <cp:lastModifiedBy>Sri Venkatesh</cp:lastModifiedBy>
  <cp:revision>3</cp:revision>
  <dcterms:created xsi:type="dcterms:W3CDTF">2013-01-27T09:14:16Z</dcterms:created>
  <dcterms:modified xsi:type="dcterms:W3CDTF">2026-09-20T12:27:00Z</dcterms:modified>
  <cp:category/>
</cp:coreProperties>
</file>