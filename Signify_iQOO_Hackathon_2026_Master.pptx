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FF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05A69"/>
                </a:solidFill>
                <a:latin typeface="Consolas"/>
              </a:defRPr>
            </a:pPr>
            <a:r>
              <a:t>SIGNIFY // iQOO HACKATHON 2026  |  PHONE-FIRST ON-DEVICE AI  |  QUALCOMM SNAPDRAGON NPU  |  KAGGLE ASL 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758952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D000"/>
                </a:solidFill>
                <a:latin typeface="Consolas"/>
              </a:defRPr>
            </a:pPr>
            <a:r>
              <a:t>[ iQOO HACKATHON 2026 // HEALTHTECH &amp; ACCESSIBILITY TRACK ]</a:t>
            </a:r>
          </a:p>
          <a:p>
            <a:pPr>
              <a:spcAft>
                <a:spcPts val="200"/>
              </a:spcAft>
              <a:defRPr sz="5800" b="1">
                <a:solidFill>
                  <a:srgbClr val="FFFFFF"/>
                </a:solidFill>
                <a:latin typeface="Segoe UI"/>
              </a:defRPr>
            </a:pPr>
            <a:r>
              <a:t>SIGNIFY</a:t>
            </a:r>
          </a:p>
          <a:p>
            <a:pPr>
              <a:spcAft>
                <a:spcPts val="1400"/>
              </a:spcAft>
              <a:defRPr sz="2200" b="1">
                <a:solidFill>
                  <a:srgbClr val="FFD000"/>
                </a:solidFill>
                <a:latin typeface="Segoe UI"/>
              </a:defRPr>
            </a:pPr>
            <a:r>
              <a:t>LET THE SILENCE BE HEARD.</a:t>
            </a:r>
          </a:p>
          <a:p>
            <a:pPr>
              <a:spcAft>
                <a:spcPts val="22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A phone-first bidirectional communication assistant bridging sign-language users and spoken voice using the Qualcomm Snapdragon Hexagon NPU and Kaggle ASL 250 ML foundation.</a:t>
            </a:r>
          </a:p>
          <a:p>
            <a:pPr>
              <a:spcAft>
                <a:spcPts val="6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SNAPDRAGON NPU: </a:t>
            </a:r>
            <a:r>
              <a:rPr sz="1050">
                <a:solidFill>
                  <a:srgbClr val="FFFFFF"/>
                </a:solidFill>
                <a:latin typeface="Segoe UI"/>
              </a:rPr>
              <a:t>&lt; 18ms real-time latency on Hexagon DSP via QNN TFLite delegate</a:t>
            </a:r>
          </a:p>
          <a:p>
            <a:pPr>
              <a:spcAft>
                <a:spcPts val="6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TWO-WAY BRIDGE: </a:t>
            </a:r>
            <a:r>
              <a:rPr sz="1050">
                <a:solidFill>
                  <a:srgbClr val="FFFFFF"/>
                </a:solidFill>
                <a:latin typeface="Segoe UI"/>
              </a:rPr>
              <a:t>Forward Sign → Speech AND Reverse Voice → Accessible Text</a:t>
            </a:r>
          </a:p>
          <a:p>
            <a:pPr>
              <a:spcAft>
                <a:spcPts val="6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ZERO HALLUCINATION: </a:t>
            </a:r>
            <a:r>
              <a:rPr sz="1050">
                <a:solidFill>
                  <a:srgbClr val="FFFFFF"/>
                </a:solidFill>
                <a:latin typeface="Segoe UI"/>
              </a:rPr>
              <a:t>Deterministic context-aware grammar engine grounded in recognized signs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87968" y="1115568"/>
            <a:ext cx="2761488" cy="4992624"/>
          </a:xfrm>
          <a:prstGeom prst="roundRect">
            <a:avLst/>
          </a:prstGeom>
          <a:solidFill>
            <a:srgbClr val="0C0D12"/>
          </a:solidFill>
          <a:ln w="1905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00229505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188720"/>
            <a:ext cx="2615184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87968" y="6108192"/>
            <a:ext cx="27614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SIGNIFY HOME INTERFACE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FF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// 01 THE URGENCY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WHEN COMMUNICATION BREAKS, EVERY SECOND MATTERS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Critical communication barriers in emergency triage, law enforcement, and daily transit.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11480"/>
            <a:ext cx="23161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F4C14"/>
                </a:solidFill>
                <a:latin typeface="Consolas"/>
              </a:defRPr>
            </a:pPr>
            <a:r>
              <a:t>iQOO 15 PROTOTYPE</a:t>
            </a:r>
          </a:p>
          <a:p>
            <a:pPr algn="r">
              <a:defRPr sz="850">
                <a:solidFill>
                  <a:srgbClr val="FFD000"/>
                </a:solidFill>
                <a:latin typeface="Consolas"/>
              </a:defRPr>
            </a:pPr>
            <a:r>
              <a:t>HEXAGON NPU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05A69"/>
                </a:solidFill>
                <a:latin typeface="Consolas"/>
              </a:defRPr>
            </a:pPr>
            <a:r>
              <a:t>SIGNIFY // iQOO HACKATHON 2026  |  PHONE-FIRST ON-DEVICE AI  |  QUALCOMM SNAPDRAGON NPU  |  KAGGLE ASL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328416" cy="448056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28416" cy="45720"/>
          </a:xfrm>
          <a:prstGeom prst="round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37360"/>
            <a:ext cx="281635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4400" b="1">
                <a:solidFill>
                  <a:srgbClr val="FFD000"/>
                </a:solidFill>
                <a:latin typeface="Consolas"/>
              </a:defRPr>
            </a:pPr>
            <a:r>
              <a:t>70M+</a:t>
            </a:r>
          </a:p>
          <a:p>
            <a:pPr>
              <a:spcAft>
                <a:spcPts val="1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DEAF INDIVIDUALS WORLDWIDE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Sign language is their native language.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Acute isolation in healthcare and emergency transit.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Handwritten notes are too slow during medical trauma.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54480"/>
            <a:ext cx="3328416" cy="448056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25696" y="1554480"/>
            <a:ext cx="3328416" cy="45720"/>
          </a:xfrm>
          <a:prstGeom prst="roundRect">
            <a:avLst/>
          </a:prstGeom>
          <a:solidFill>
            <a:srgbClr val="FF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737360"/>
            <a:ext cx="281635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4400" b="1">
                <a:solidFill>
                  <a:srgbClr val="FF4C14"/>
                </a:solidFill>
                <a:latin typeface="Consolas"/>
              </a:defRPr>
            </a:pPr>
            <a:r>
              <a:t>&lt; 1%</a:t>
            </a:r>
          </a:p>
          <a:p>
            <a:pPr>
              <a:spcAft>
                <a:spcPts val="1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HEARING WHO UNDERSTAND SIGN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Over 99% of doctors and responders cannot read sign.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High risk of dangerous misinterpretation in traffic stops.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Patients unable to convey critical symptoms or allergies.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554480"/>
            <a:ext cx="3328416" cy="448056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9872" y="1554480"/>
            <a:ext cx="3328416" cy="4572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1737360"/>
            <a:ext cx="281635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4400" b="1">
                <a:solidFill>
                  <a:srgbClr val="00F0FF"/>
                </a:solidFill>
                <a:latin typeface="Consolas"/>
              </a:defRPr>
            </a:pPr>
            <a:r>
              <a:t>2-4 HRS</a:t>
            </a:r>
          </a:p>
          <a:p>
            <a:pPr>
              <a:spcAft>
                <a:spcPts val="1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INTERPRETER ARRIVAL DELAY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Certified medical interpreters are rarely on-site.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Costs exceed $100/hr, inaccessible for daily interactions.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Urgent care demands instant, on-device AI assistance.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FF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// 02 CORE NOVELTY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ISOLATED SIGNS ARE NOT A CONVERSATION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The fundamental barrier in AI sign language isn't just image classification — it is conversational synthesis.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11480"/>
            <a:ext cx="23161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F4C14"/>
                </a:solidFill>
                <a:latin typeface="Consolas"/>
              </a:defRPr>
            </a:pPr>
            <a:r>
              <a:t>iQOO 15 PROTOTYPE</a:t>
            </a:r>
          </a:p>
          <a:p>
            <a:pPr algn="r">
              <a:defRPr sz="850">
                <a:solidFill>
                  <a:srgbClr val="FFD000"/>
                </a:solidFill>
                <a:latin typeface="Consolas"/>
              </a:defRPr>
            </a:pPr>
            <a:r>
              <a:t>HEXAGON NPU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05A69"/>
                </a:solidFill>
                <a:latin typeface="Consolas"/>
              </a:defRPr>
            </a:pPr>
            <a:r>
              <a:t>SIGNIFY // iQOO HACKATHON 2026  |  PHONE-FIRST ON-DEVICE AI  |  QUALCOMM SNAPDRAGON NPU  |  KAGGLE ASL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166360" cy="45720"/>
          </a:xfrm>
          <a:prstGeom prst="roundRect">
            <a:avLst/>
          </a:prstGeom>
          <a:solidFill>
            <a:srgbClr val="FF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83080"/>
            <a:ext cx="45262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FF4C14"/>
                </a:solidFill>
                <a:latin typeface="Consolas"/>
              </a:defRPr>
            </a:pPr>
            <a:r>
              <a:t>✕  STANDARD RESEARCH CLASSIFIERS (THE PAST)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Raw Token Splatting Without Grammar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  <a:latin typeface="Consolas"/>
              </a:defRPr>
            </a:pPr>
            <a:r>
              <a:t>FLOW: Camera ──► Image Model ──► Dumps Raw Words</a:t>
            </a:r>
          </a:p>
          <a:p>
            <a:pPr>
              <a:spcAft>
                <a:spcPts val="1400"/>
              </a:spcAft>
              <a:defRPr sz="1200" b="1">
                <a:solidFill>
                  <a:srgbClr val="FF4C14"/>
                </a:solidFill>
                <a:latin typeface="Consolas"/>
              </a:defRPr>
            </a:pPr>
            <a:r>
              <a:t>OUTPUT: "WATER" ... "PLEASE" ... "WATER"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Sounds robotic, grammatically broken, and disjointed.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Places extreme cognitive load on doctors and hearing responders.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Single-frame jitter spams duplicate words endlessly.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Zero awareness of social etiquette or conversational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91072" y="1554480"/>
            <a:ext cx="5166360" cy="45720"/>
          </a:xfrm>
          <a:prstGeom prst="round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1783080"/>
            <a:ext cx="45262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FFD000"/>
                </a:solidFill>
                <a:latin typeface="Consolas"/>
              </a:defRPr>
            </a:pPr>
            <a:r>
              <a:t>✓  SIGNIFY CONTEXT ENGINE (OUR NOVELTY)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Grounded Conversational Synthesis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  <a:latin typeface="Consolas"/>
              </a:defRPr>
            </a:pPr>
            <a:r>
              <a:t>FLOW: Camera ──► Verified Buffer ──► Context Grammar Engine</a:t>
            </a:r>
          </a:p>
          <a:p>
            <a:pPr>
              <a:spcAft>
                <a:spcPts val="1400"/>
              </a:spcAft>
              <a:defRPr sz="1200" b="1">
                <a:solidFill>
                  <a:srgbClr val="FFD000"/>
                </a:solidFill>
                <a:latin typeface="Consolas"/>
              </a:defRPr>
            </a:pPr>
            <a:r>
              <a:t>SYNTHESIS: "Please may I have some water?"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Accumulates verified sign tokens: [ WATER ] + [ PLEASE ].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Medical triage: [ SICK ] + [ OWIE ] → "I am sick and experiencing severe pain."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100% Deterministic &amp; Zero-Hallucination (No made-up words).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Operates in &lt; 2ms without slow, costly cloud LLMs.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FF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// 03 PRODUCT ARCHITECTURE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THE SMARTPHONE AS A TWO-WAY INTERACTION BRIDGE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Signify completes the communication loop: Forward Sign → Speech and Reverse Voice → Accessible 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11480"/>
            <a:ext cx="23161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F4C14"/>
                </a:solidFill>
                <a:latin typeface="Consolas"/>
              </a:defRPr>
            </a:pPr>
            <a:r>
              <a:t>iQOO 15 PROTOTYPE</a:t>
            </a:r>
          </a:p>
          <a:p>
            <a:pPr algn="r">
              <a:defRPr sz="850">
                <a:solidFill>
                  <a:srgbClr val="FFD000"/>
                </a:solidFill>
                <a:latin typeface="Consolas"/>
              </a:defRPr>
            </a:pPr>
            <a:r>
              <a:t>HEXAGON NPU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05A69"/>
                </a:solidFill>
                <a:latin typeface="Consolas"/>
              </a:defRPr>
            </a:pPr>
            <a:r>
              <a:t>SIGNIFY // iQOO HACKATHON 2026  |  PHONE-FIRST ON-DEVICE AI  |  QUALCOMM SNAPDRAGON NPU  |  KAGGLE ASL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7132320" cy="214884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7132320" cy="45720"/>
          </a:xfrm>
          <a:prstGeom prst="round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91640"/>
            <a:ext cx="65836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D000"/>
                </a:solidFill>
                <a:latin typeface="Consolas"/>
              </a:defRPr>
            </a:pPr>
            <a:r>
              <a:t>▶ FORWARD FLOW: GESTURE → VOICE (FOR HEARING LISTENER)</a:t>
            </a:r>
          </a:p>
          <a:p>
            <a:pPr>
              <a:spcAft>
                <a:spcPts val="800"/>
              </a:spcAft>
              <a:defRPr sz="950">
                <a:solidFill>
                  <a:srgbClr val="00F0FF"/>
                </a:solidFill>
                <a:latin typeface="Consolas"/>
              </a:defRPr>
            </a:pPr>
            <a:r>
              <a:t>Camera Ingest (543 Landmarks) ──► TFLite ASL 250 ──► Sentence Engine ──► Audio Broadcast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Deaf signer signs inside phone reticle → System verifies tokens (≥70%) → Synthesizes complete grammatical sentence → Speaks aloud via stereo speakers.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7132320" cy="214884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7132320" cy="4572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65836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0FF"/>
                </a:solidFill>
                <a:latin typeface="Consolas"/>
              </a:defRPr>
            </a:pPr>
            <a:r>
              <a:t>▶ REVERSE FLOW: VOICE → ACCESSIBLE TEXT (FOR DEAF SIGNER)</a:t>
            </a:r>
          </a:p>
          <a:p>
            <a:pPr>
              <a:spcAft>
                <a:spcPts val="800"/>
              </a:spcAft>
              <a:defRPr sz="950">
                <a:solidFill>
                  <a:srgbClr val="FFD000"/>
                </a:solidFill>
                <a:latin typeface="Consolas"/>
              </a:defRPr>
            </a:pPr>
            <a:r>
              <a:t>Dual Mic Array ──► Real-Time STT ──► Noise Filter ──► 24pt High-Contrast Subtitles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Hearing doctor or officer speaks → Directional noise cancellation isolates voice in busy triage → Real-time single-dispatch transcription renders oversized 24pt 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9328" y="1481328"/>
            <a:ext cx="2560320" cy="4626864"/>
          </a:xfrm>
          <a:prstGeom prst="roundRect">
            <a:avLst/>
          </a:prstGeom>
          <a:solidFill>
            <a:srgbClr val="0C0D12"/>
          </a:solidFill>
          <a:ln w="1905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edia_17900229505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2414016" cy="4480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9328" y="6108192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TWO-WAY BRIDGE HERO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FF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// 04 LIVE PROTOTYPE REALITY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KAGGLE ASL 250 ML VISION FOUNDATION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Active live camera vision with MediaPipe landmark tracking and TFLite model running right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11480"/>
            <a:ext cx="23161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F4C14"/>
                </a:solidFill>
                <a:latin typeface="Consolas"/>
              </a:defRPr>
            </a:pPr>
            <a:r>
              <a:t>iQOO 15 PROTOTYPE</a:t>
            </a:r>
          </a:p>
          <a:p>
            <a:pPr algn="r">
              <a:defRPr sz="850">
                <a:solidFill>
                  <a:srgbClr val="FFD000"/>
                </a:solidFill>
                <a:latin typeface="Consolas"/>
              </a:defRPr>
            </a:pPr>
            <a:r>
              <a:t>HEXAGON NPU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05A69"/>
                </a:solidFill>
                <a:latin typeface="Consolas"/>
              </a:defRPr>
            </a:pPr>
            <a:r>
              <a:t>SIGNIFY // iQOO HACKATHON 2026  |  PHONE-FIRST ON-DEVICE AI  |  QUALCOMM SNAPDRAGON NPU  |  KAGGLE ASL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7132320" cy="448056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7132320" cy="45720"/>
          </a:xfrm>
          <a:prstGeom prst="round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83080"/>
            <a:ext cx="64922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FD000"/>
                </a:solidFill>
                <a:latin typeface="Consolas"/>
              </a:defRPr>
            </a:pPr>
            <a:r>
              <a:t>VISION EXTRACTION &amp; INFERENCE PIPELINE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01 / CAMERA INGEST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60 FPS real-time vision stream framed with gold responsive targeting reticle.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02 / MEDIAPIPE TRACKING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Extracts 543 spatial coordinates (468 face mesh, 21 pose, 42 dual-hand points).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03 / TFLITE SIGNATURE RUNNER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Rolling 45-frame temporal tensor fed into 1D-CNN / Transformer encoder.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04 / KAGGLE 250 VOCABULARY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Predicts authentic classes (e.g. SICK, OWIE, WATER, PLEASE, CALL ON PHONE, BYE).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05 / LIVE CLOUD BRIDGE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Render FastAPI backend (https://signifyprototype.onrender.com) connected 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8" y="1481328"/>
            <a:ext cx="2468880" cy="4626864"/>
          </a:xfrm>
          <a:prstGeom prst="roundRect">
            <a:avLst/>
          </a:prstGeom>
          <a:solidFill>
            <a:srgbClr val="0C0D12"/>
          </a:solidFill>
          <a:ln w="1905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dia_1790023242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2322576" cy="4480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39328" y="610819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LIVE VISION TRACKING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FF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// 05 TRUST &amp; CLINICAL SAFETY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DUAL SAFETY GATING: 70% CONFIDENCE &amp; TEMPORAL STABILITY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Medical and emergency contexts cannot tolerate random AI hallucinations or single-frame jitter.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11480"/>
            <a:ext cx="23161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F4C14"/>
                </a:solidFill>
                <a:latin typeface="Consolas"/>
              </a:defRPr>
            </a:pPr>
            <a:r>
              <a:t>iQOO 15 PROTOTYPE</a:t>
            </a:r>
          </a:p>
          <a:p>
            <a:pPr algn="r">
              <a:defRPr sz="850">
                <a:solidFill>
                  <a:srgbClr val="FFD000"/>
                </a:solidFill>
                <a:latin typeface="Consolas"/>
              </a:defRPr>
            </a:pPr>
            <a:r>
              <a:t>HEXAGON NPU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05A69"/>
                </a:solidFill>
                <a:latin typeface="Consolas"/>
              </a:defRPr>
            </a:pPr>
            <a:r>
              <a:t>SIGNIFY // iQOO HACKATHON 2026  |  PHONE-FIRST ON-DEVICE AI  |  QUALCOMM SNAPDRAGON NPU  |  KAGGLE ASL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728655" cy="77724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28655" cy="45720"/>
          </a:xfrm>
          <a:prstGeom prst="round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D000"/>
                </a:solidFill>
                <a:latin typeface="Consolas"/>
              </a:defRPr>
            </a:pPr>
            <a:r>
              <a:t>DECISION FLOW: PREDICTION ──► [ GATE 1: ≥70.0% SOFTMAX? ] ──► [ GATE 2: 2-FRAME STABILITY? ] ──► ACCEPT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5166360" cy="352044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5166360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45262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✓ ACCEPTED GESTURES (≥ 70.0% CONFIDENCE)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Softmax Probability ≥ 70.0% required for token acceptance.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2-Frame Temporal Lock: Gesture must remain consistent across frames.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1 Crisp Haptic Pulse (45ms) confirms recognition without eye contact.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Deduplication Engine: Prevents stuttering spam (e.g. SICK SICK SICK).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2514600"/>
            <a:ext cx="5166360" cy="352044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2514600"/>
            <a:ext cx="5166360" cy="45720"/>
          </a:xfrm>
          <a:prstGeom prst="roundRect">
            <a:avLst/>
          </a:prstGeom>
          <a:solidFill>
            <a:srgbClr val="FF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2697480"/>
            <a:ext cx="45262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4C14"/>
                </a:solidFill>
                <a:latin typeface="Consolas"/>
              </a:defRPr>
            </a:pPr>
            <a:r>
              <a:t>✕ REJECTED GESTURES (&lt; 70.0% CONFIDENCE)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Suppresses weak guesses (e.g. 48% ambiguous finger shapes).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Zero Hallucination: Never passes unverified words to the sentence engine.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2 Quick Haptic Pulses prompt user to re-sign naturally.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HUD Visual Reticle flashes amber: 'HOLD HAND STEADY TO RETRY'.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FF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// 06 MEANINGFUL SENTENCE SYNTHESIS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GROUNDED CONTEXT-AWARE SENTENCE BUILDER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Turning recognized gesture tokens into grammatically complete, natural English sentences.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11480"/>
            <a:ext cx="23161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F4C14"/>
                </a:solidFill>
                <a:latin typeface="Consolas"/>
              </a:defRPr>
            </a:pPr>
            <a:r>
              <a:t>iQOO 15 PROTOTYPE</a:t>
            </a:r>
          </a:p>
          <a:p>
            <a:pPr algn="r">
              <a:defRPr sz="850">
                <a:solidFill>
                  <a:srgbClr val="FFD000"/>
                </a:solidFill>
                <a:latin typeface="Consolas"/>
              </a:defRPr>
            </a:pPr>
            <a:r>
              <a:t>HEXAGON NPU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05A69"/>
                </a:solidFill>
                <a:latin typeface="Consolas"/>
              </a:defRPr>
            </a:pPr>
            <a:r>
              <a:t>SIGNIFY // iQOO HACKATHON 2026  |  PHONE-FIRST ON-DEVICE AI  |  QUALCOMM SNAPDRAGON NPU  |  KAGGLE ASL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7132320" cy="448056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7132320" cy="45720"/>
          </a:xfrm>
          <a:prstGeom prst="round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83080"/>
            <a:ext cx="64922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FD000"/>
                </a:solidFill>
                <a:latin typeface="Consolas"/>
              </a:defRPr>
            </a:pPr>
            <a:r>
              <a:t>DETERMINISTIC GRAMMAR SYNTHESIS ENGINE</a:t>
            </a:r>
          </a:p>
          <a:p>
            <a:pPr>
              <a:spcAft>
                <a:spcPts val="600"/>
              </a:spcAft>
              <a:defRPr sz="1000" b="1">
                <a:solidFill>
                  <a:srgbClr val="00F0FF"/>
                </a:solidFill>
                <a:latin typeface="Consolas"/>
              </a:defRPr>
            </a:pPr>
            <a:r>
              <a:t>• [ WATER ] + [ PLEASE ] </a:t>
            </a:r>
            <a:r>
              <a:rPr sz="1100" b="1">
                <a:solidFill>
                  <a:srgbClr val="FFFFFF"/>
                </a:solidFill>
                <a:latin typeface="Segoe UI"/>
              </a:rPr>
              <a:t>→  "Please may I have some water?"</a:t>
            </a:r>
          </a:p>
          <a:p>
            <a:pPr>
              <a:spcAft>
                <a:spcPts val="600"/>
              </a:spcAft>
              <a:defRPr sz="1000" b="1">
                <a:solidFill>
                  <a:srgbClr val="00F0FF"/>
                </a:solidFill>
                <a:latin typeface="Consolas"/>
              </a:defRPr>
            </a:pPr>
            <a:r>
              <a:t>• [ SICK ] + [ OWIE ] </a:t>
            </a:r>
            <a:r>
              <a:rPr sz="1100" b="1">
                <a:solidFill>
                  <a:srgbClr val="FFFFFF"/>
                </a:solidFill>
                <a:latin typeface="Segoe UI"/>
              </a:rPr>
              <a:t>→  "I am sick and experiencing severe pain."</a:t>
            </a:r>
          </a:p>
          <a:p>
            <a:pPr>
              <a:spcAft>
                <a:spcPts val="600"/>
              </a:spcAft>
              <a:defRPr sz="1000" b="1">
                <a:solidFill>
                  <a:srgbClr val="00F0FF"/>
                </a:solidFill>
                <a:latin typeface="Consolas"/>
              </a:defRPr>
            </a:pPr>
            <a:r>
              <a:t>• [ POLICE ] + [ CALL ON PHONE ] </a:t>
            </a:r>
            <a:r>
              <a:rPr sz="1100" b="1">
                <a:solidFill>
                  <a:srgbClr val="FFFFFF"/>
                </a:solidFill>
                <a:latin typeface="Segoe UI"/>
              </a:rPr>
              <a:t>→  "Please call the police immediately."</a:t>
            </a:r>
          </a:p>
          <a:p>
            <a:pPr>
              <a:spcAft>
                <a:spcPts val="600"/>
              </a:spcAft>
              <a:defRPr sz="1000" b="1">
                <a:solidFill>
                  <a:srgbClr val="00F0FF"/>
                </a:solidFill>
                <a:latin typeface="Consolas"/>
              </a:defRPr>
            </a:pPr>
            <a:r>
              <a:t>• [ WHERE ] + [ BATH ] </a:t>
            </a:r>
            <a:r>
              <a:rPr sz="1100" b="1">
                <a:solidFill>
                  <a:srgbClr val="FFFFFF"/>
                </a:solidFill>
                <a:latin typeface="Segoe UI"/>
              </a:rPr>
              <a:t>→  "Excuse me, where is the nearest restroom?"</a:t>
            </a:r>
          </a:p>
          <a:p>
            <a:pPr>
              <a:spcAft>
                <a:spcPts val="600"/>
              </a:spcAft>
              <a:defRPr sz="1000" b="1">
                <a:solidFill>
                  <a:srgbClr val="00F0FF"/>
                </a:solidFill>
                <a:latin typeface="Consolas"/>
              </a:defRPr>
            </a:pPr>
            <a:r>
              <a:t>• [ BYE ] </a:t>
            </a:r>
            <a:r>
              <a:rPr sz="1100" b="1">
                <a:solidFill>
                  <a:srgbClr val="FFFFFF"/>
                </a:solidFill>
                <a:latin typeface="Segoe UI"/>
              </a:rPr>
              <a:t>→  "Goodbye, have a great day!" (Single-token synthesis)</a:t>
            </a:r>
          </a:p>
          <a:p>
            <a:br/>
            <a:pPr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LATENCY: &lt; 2ms  |  HALLUCINATIONS: 0%  |  OFFLINE: 100% PRIVATE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8" y="1481328"/>
            <a:ext cx="2395728" cy="4626864"/>
          </a:xfrm>
          <a:prstGeom prst="roundRect">
            <a:avLst/>
          </a:prstGeom>
          <a:solidFill>
            <a:srgbClr val="0C0D12"/>
          </a:solidFill>
          <a:ln w="1905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dia_17900232886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2249424" cy="4480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39328" y="6108192"/>
            <a:ext cx="23957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AUDIO BROADCAST &amp; WAVEFORM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FF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// 07 LIVE TWO-WAY DIALOGUE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TWO-WAY LIVE CONVERSATION STREAM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 unified conversation stream bridging both participants with instant audio playback.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11480"/>
            <a:ext cx="23161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F4C14"/>
                </a:solidFill>
                <a:latin typeface="Consolas"/>
              </a:defRPr>
            </a:pPr>
            <a:r>
              <a:t>iQOO 15 PROTOTYPE</a:t>
            </a:r>
          </a:p>
          <a:p>
            <a:pPr algn="r">
              <a:defRPr sz="850">
                <a:solidFill>
                  <a:srgbClr val="FFD000"/>
                </a:solidFill>
                <a:latin typeface="Consolas"/>
              </a:defRPr>
            </a:pPr>
            <a:r>
              <a:t>HEXAGON NPU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05A69"/>
                </a:solidFill>
                <a:latin typeface="Consolas"/>
              </a:defRPr>
            </a:pPr>
            <a:r>
              <a:t>SIGNIFY // iQOO HACKATHON 2026  |  PHONE-FIRST ON-DEVICE AI  |  QUALCOMM SNAPDRAGON NPU  |  KAGGLE ASL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7132320" cy="448056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7132320" cy="45720"/>
          </a:xfrm>
          <a:prstGeom prst="round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83080"/>
            <a:ext cx="64922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FD000"/>
                </a:solidFill>
                <a:latin typeface="Consolas"/>
              </a:defRPr>
            </a:pPr>
            <a:r>
              <a:t>UNIFIED TWO-WAY INTERACTION TIMELINE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DISTINCT SPEAKER CARDS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Gold card for SIGN (YOU) vs. Gray card for SPEECH (OTHER PERSON).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SIGN TOKEN TRACEABILITY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Shows underlying Kaggle tokens (e.g. [HELLO HOW YOU], [BYE]).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INLINE AUDIO PLAYBACK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One-touch Play/Stop audio synthesis button on every chat bubble.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TWO-WAY ACTION BAR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Instant access to [ 🤟 SIGN ] camera modal and [ 🎤 SPEAK ] voice modal.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CONVERSATIONAL AUDIT TRAIL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Preserves full transcript for medical triage review or police statements.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8" y="1481328"/>
            <a:ext cx="2468880" cy="4626864"/>
          </a:xfrm>
          <a:prstGeom prst="roundRect">
            <a:avLst/>
          </a:prstGeom>
          <a:solidFill>
            <a:srgbClr val="0C0D12"/>
          </a:solidFill>
          <a:ln w="1905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dia_17900233586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2322576" cy="4480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39328" y="610819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CONVERSATION MODE STREAM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FF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// 08 REVERSE VOICE INGEST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VOICE-TO-TEXT: LISTENING TO THE HEARING PARTNER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Capturing speech in high-noise environments with real-time waveform feedback.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11480"/>
            <a:ext cx="23161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F4C14"/>
                </a:solidFill>
                <a:latin typeface="Consolas"/>
              </a:defRPr>
            </a:pPr>
            <a:r>
              <a:t>iQOO 15 PROTOTYPE</a:t>
            </a:r>
          </a:p>
          <a:p>
            <a:pPr algn="r">
              <a:defRPr sz="850">
                <a:solidFill>
                  <a:srgbClr val="FFD000"/>
                </a:solidFill>
                <a:latin typeface="Consolas"/>
              </a:defRPr>
            </a:pPr>
            <a:r>
              <a:t>HEXAGON NPU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05A69"/>
                </a:solidFill>
                <a:latin typeface="Consolas"/>
              </a:defRPr>
            </a:pPr>
            <a:r>
              <a:t>SIGNIFY // iQOO HACKATHON 2026  |  PHONE-FIRST ON-DEVICE AI  |  QUALCOMM SNAPDRAGON NPU  |  KAGGLE ASL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7132320" cy="448056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7132320" cy="4572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83080"/>
            <a:ext cx="64922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F0FF"/>
                </a:solidFill>
                <a:latin typeface="Consolas"/>
              </a:defRPr>
            </a:pPr>
            <a:r>
              <a:t>HIGH-SENSITIVITY VOICE CAPTURE FEATURES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ONE-TAP VOICE TRIGGER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Large high-contrast microphone button designed for effortless hand-off.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REAL-TIME WAVEFORM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Visual pulsing audio waveform confirms active microphone capture.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DIRECTIONAL NOISE CANCEL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Utilizes iQOO dual-microphone array to isolate speech in loud triage rooms.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SINGLE-DISPATCH ENGINE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Zero-duplicate dispatch engine prevents echoing in the conversation stream.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8" y="1481328"/>
            <a:ext cx="2404872" cy="4626864"/>
          </a:xfrm>
          <a:prstGeom prst="roundRect">
            <a:avLst/>
          </a:prstGeom>
          <a:solidFill>
            <a:srgbClr val="0C0D12"/>
          </a:solidFill>
          <a:ln w="1905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dia_17900234326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2258568" cy="4480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39328" y="6108192"/>
            <a:ext cx="2404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TAP TO SPEAK INTERFACE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FF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// 09 HIGH-CONTRAST ACCESSIBILITY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ACCESSIBLE HIGH-CONTRAST READOUT FOR SIGNERS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Clear, legible visual output designed for readability across a hospital bed or desk.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11480"/>
            <a:ext cx="23161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F4C14"/>
                </a:solidFill>
                <a:latin typeface="Consolas"/>
              </a:defRPr>
            </a:pPr>
            <a:r>
              <a:t>iQOO 15 PROTOTYPE</a:t>
            </a:r>
          </a:p>
          <a:p>
            <a:pPr algn="r">
              <a:defRPr sz="850">
                <a:solidFill>
                  <a:srgbClr val="FFD000"/>
                </a:solidFill>
                <a:latin typeface="Consolas"/>
              </a:defRPr>
            </a:pPr>
            <a:r>
              <a:t>HEXAGON NPU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05A69"/>
                </a:solidFill>
                <a:latin typeface="Consolas"/>
              </a:defRPr>
            </a:pPr>
            <a:r>
              <a:t>SIGNIFY // iQOO HACKATHON 2026  |  PHONE-FIRST ON-DEVICE AI  |  QUALCOMM SNAPDRAGON NPU  |  KAGGLE ASL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7132320" cy="448056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7132320" cy="45720"/>
          </a:xfrm>
          <a:prstGeom prst="round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83080"/>
            <a:ext cx="64922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FD000"/>
                </a:solidFill>
                <a:latin typeface="Consolas"/>
              </a:defRPr>
            </a:pPr>
            <a:r>
              <a:t>DEAF-FIRST ERGONOMIC READOUT DESIGN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24pt HIGH-CONTRAST DISPLAY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Bold white text framed in glowing cyber-gold card on OLED deep black.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100% VISIBLE STATUS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Instant visual confirmation that speech was transcribed accurately.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AUDIO REPLAY VERIFICATION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Deaf user can tap Replay to verify what words the other person spoke.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▶ ADD TO CONVERSATION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One tap appends transcribed speech to the shared conversation timeline.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8" y="1481328"/>
            <a:ext cx="2578608" cy="4626864"/>
          </a:xfrm>
          <a:prstGeom prst="roundRect">
            <a:avLst/>
          </a:prstGeom>
          <a:solidFill>
            <a:srgbClr val="0C0D12"/>
          </a:solidFill>
          <a:ln w="1905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dia_17900235657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2432304" cy="4480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39328" y="6108192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HIGH-CONTRAST SPEECH CARD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FF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// 10 HARDWARE ACCELERATION BENCHMARK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QUALCOMM SNAPDRAGON HEXAGON NPU ACCELERATION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Unlocking sub-18ms on-device inference using Qualcomm AI Engine Direct (QNN SDK).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11480"/>
            <a:ext cx="23161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F4C14"/>
                </a:solidFill>
                <a:latin typeface="Consolas"/>
              </a:defRPr>
            </a:pPr>
            <a:r>
              <a:t>iQOO 15 PROTOTYPE</a:t>
            </a:r>
          </a:p>
          <a:p>
            <a:pPr algn="r">
              <a:defRPr sz="850">
                <a:solidFill>
                  <a:srgbClr val="FFD000"/>
                </a:solidFill>
                <a:latin typeface="Consolas"/>
              </a:defRPr>
            </a:pPr>
            <a:r>
              <a:t>HEXAGON NPU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05A69"/>
                </a:solidFill>
                <a:latin typeface="Consolas"/>
              </a:defRPr>
            </a:pPr>
            <a:r>
              <a:t>SIGNIFY // iQOO HACKATHON 2026  |  PHONE-FIRST ON-DEVICE AI  |  QUALCOMM SNAPDRAGON NPU  |  KAGGLE ASL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728655" cy="77724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28655" cy="45720"/>
          </a:xfrm>
          <a:prstGeom prst="round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D000"/>
                </a:solidFill>
                <a:latin typeface="Consolas"/>
              </a:defRPr>
            </a:pPr>
            <a:r>
              <a:t>HARDWARE PIPELINE: CAMERA (60 FPS) ──► MEDIAPIPE (543 PTS) ──► TFLITE (INT8) ──► QNN DELEGATE ──► HEXAGON DSP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Direct AHARDWAREBUFFER memory binding offloads tensor math directly to Hexagon NPU with zero CPU memory copies.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2450592" cy="352044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2450592" cy="45720"/>
          </a:xfrm>
          <a:prstGeom prst="round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97480"/>
            <a:ext cx="1993392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94A3B8"/>
                </a:solidFill>
                <a:latin typeface="Consolas"/>
              </a:defRPr>
            </a:pPr>
            <a:r>
              <a:t>INFERENCE LATENCY</a:t>
            </a:r>
          </a:p>
          <a:p>
            <a:pPr>
              <a:spcAft>
                <a:spcPts val="1200"/>
              </a:spcAft>
              <a:defRPr sz="2800" b="1">
                <a:solidFill>
                  <a:srgbClr val="FFD000"/>
                </a:solidFill>
                <a:latin typeface="Consolas"/>
              </a:defRPr>
            </a:pPr>
            <a:r>
              <a:t>&lt; 18 ms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vs. CPU: 145 ms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vs. Cloud: 280 ms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Real-time sub-frame speed.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4" y="2514600"/>
            <a:ext cx="2450592" cy="352044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83864" y="2514600"/>
            <a:ext cx="2450592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2464" y="2697480"/>
            <a:ext cx="1993392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94A3B8"/>
                </a:solidFill>
                <a:latin typeface="Consolas"/>
              </a:defRPr>
            </a:pPr>
            <a:r>
              <a:t>POWER DISSIPATION</a:t>
            </a:r>
          </a:p>
          <a:p>
            <a:pPr>
              <a:spcAft>
                <a:spcPts val="1200"/>
              </a:spcAft>
              <a:defRPr sz="2800" b="1">
                <a:solidFill>
                  <a:srgbClr val="10B981"/>
                </a:solidFill>
                <a:latin typeface="Consolas"/>
              </a:defRPr>
            </a:pPr>
            <a:r>
              <a:t>0.42 W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vs. CPU: 3.8 W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Zero thermal throttling.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All-day continuous battery.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514600"/>
            <a:ext cx="2450592" cy="352044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8" y="2514600"/>
            <a:ext cx="2450592" cy="4572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697480"/>
            <a:ext cx="1993392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94A3B8"/>
                </a:solidFill>
                <a:latin typeface="Consolas"/>
              </a:defRPr>
            </a:pPr>
            <a:r>
              <a:t>BANDWIDTH COST</a:t>
            </a:r>
          </a:p>
          <a:p>
            <a:pPr>
              <a:spcAft>
                <a:spcPts val="1200"/>
              </a:spcAft>
              <a:defRPr sz="2800" b="1">
                <a:solidFill>
                  <a:srgbClr val="00F0FF"/>
                </a:solidFill>
                <a:latin typeface="Consolas"/>
              </a:defRPr>
            </a:pPr>
            <a:r>
              <a:t>0 KB/s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vs. Cloud: 120 KB/s/frame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100% offline.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Works in elevators &amp; flights.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8552" y="2514600"/>
            <a:ext cx="2450592" cy="352044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88552" y="2514600"/>
            <a:ext cx="2450592" cy="45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2697480"/>
            <a:ext cx="1993392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94A3B8"/>
                </a:solidFill>
                <a:latin typeface="Consolas"/>
              </a:defRPr>
            </a:pPr>
            <a:r>
              <a:t>DATA PRIVACY</a:t>
            </a:r>
          </a:p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  <a:latin typeface="Consolas"/>
              </a:defRPr>
            </a:pPr>
            <a:r>
              <a:t>100% LOCAL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Zero video leaves device.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Full HIPAA medical privacy compliance.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FF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// 11 ANDROID IMPLEMENTATION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HOW SIGNIFY RUNS ON AN IQOO ANDROID PHONE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Two clear pathways: Rapid APK packaging for hackathons and the native Jetpack CameraX production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11480"/>
            <a:ext cx="23161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F4C14"/>
                </a:solidFill>
                <a:latin typeface="Consolas"/>
              </a:defRPr>
            </a:pPr>
            <a:r>
              <a:t>iQOO 15 PROTOTYPE</a:t>
            </a:r>
          </a:p>
          <a:p>
            <a:pPr algn="r">
              <a:defRPr sz="850">
                <a:solidFill>
                  <a:srgbClr val="FFD000"/>
                </a:solidFill>
                <a:latin typeface="Consolas"/>
              </a:defRPr>
            </a:pPr>
            <a:r>
              <a:t>HEXAGON NPU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05A69"/>
                </a:solidFill>
                <a:latin typeface="Consolas"/>
              </a:defRPr>
            </a:pPr>
            <a:r>
              <a:t>SIGNIFY // iQOO HACKATHON 2026  |  PHONE-FIRST ON-DEVICE AI  |  QUALCOMM SNAPDRAGON NPU  |  KAGGLE ASL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166360" cy="45720"/>
          </a:xfrm>
          <a:prstGeom prst="round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83080"/>
            <a:ext cx="45262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D000"/>
                </a:solidFill>
                <a:latin typeface="Consolas"/>
              </a:defRPr>
            </a:pPr>
            <a:r>
              <a:t>PATH A: RAPID APK / PWA PACKAGING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Capacitor Mobile Wrapper &amp; WebAPK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Capacitor CLI: Wraps Vite/React build into native Android Studio project.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Manifest Permissions: Camera, Record Audio, Vibrator, Internet.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APK Build: Compiles standalone .apk installable on any Android device.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Instant PWA: Judges opening our Vercel link on Android get an 'Install App' prompt for full-screen standalone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91072" y="1554480"/>
            <a:ext cx="5166360" cy="4572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1783080"/>
            <a:ext cx="45262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0FF"/>
                </a:solidFill>
                <a:latin typeface="Consolas"/>
              </a:defRPr>
            </a:pPr>
            <a:r>
              <a:t>PATH B: NATIVE ANDROID STACK (iQOO FLAGSHIP)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Deep Qualcomm QNN &amp; Android OS Pipeline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CameraX ImageAnalysis: 60 FPS zero-copy YUV stream from camera sensor.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MediaPipe Tasks Vision SDK: Native Android HandLandmarker extraction.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TFLite QNN Delegate: libQnnTfliteDelegate.so offloads tensor math to Hexagon NPU.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VibratorService: Precise linear resonant haptic confirmation pulses.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Android TTS: Low-latency on-device vocal synthesis.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FF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// 12 PRODUCTION TIMELINE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FROM PROTOTYPE TO SYSTEM-LEVEL ACCESSIBILITY SERVICE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 phased engineering roadmap to bring Signify to every iQOO user.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11480"/>
            <a:ext cx="23161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F4C14"/>
                </a:solidFill>
                <a:latin typeface="Consolas"/>
              </a:defRPr>
            </a:pPr>
            <a:r>
              <a:t>iQOO 15 PROTOTYPE</a:t>
            </a:r>
          </a:p>
          <a:p>
            <a:pPr algn="r">
              <a:defRPr sz="850">
                <a:solidFill>
                  <a:srgbClr val="FFD000"/>
                </a:solidFill>
                <a:latin typeface="Consolas"/>
              </a:defRPr>
            </a:pPr>
            <a:r>
              <a:t>HEXAGON NPU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05A69"/>
                </a:solidFill>
                <a:latin typeface="Consolas"/>
              </a:defRPr>
            </a:pPr>
            <a:r>
              <a:t>SIGNIFY // iQOO HACKATHON 2026  |  PHONE-FIRST ON-DEVICE AI  |  QUALCOMM SNAPDRAGON NPU  |  KAGGLE ASL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450592" cy="448056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2450592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37360"/>
            <a:ext cx="204825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0B981"/>
                </a:solidFill>
                <a:latin typeface="Consolas"/>
              </a:defRPr>
            </a:pPr>
            <a:r>
              <a:t>PHASE 1 [COMPLETED]</a:t>
            </a:r>
          </a:p>
          <a:p>
            <a:pPr>
              <a:spcAft>
                <a:spcPts val="12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WEB PROTOTYPE &amp; ML BACKEND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Live on Vercel.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FastAPI on Render cloud.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250 Kaggle classes.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70% confidence gating.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Sentence engine active.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3864" y="1554480"/>
            <a:ext cx="2450592" cy="448056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83864" y="1554480"/>
            <a:ext cx="2450592" cy="45720"/>
          </a:xfrm>
          <a:prstGeom prst="round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1737360"/>
            <a:ext cx="204825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PHASE 2 [NEXT 60 DAYS]</a:t>
            </a:r>
          </a:p>
          <a:p>
            <a:pPr>
              <a:spcAft>
                <a:spcPts val="12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NATIVE ANDROID &amp; NPU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Capacitor APK packaging.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CameraX integration.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Compile Qualcomm QNN delegate for Hexagon NPU.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&lt; 0.45W power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554480"/>
            <a:ext cx="2450592" cy="448056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36208" y="1554480"/>
            <a:ext cx="2450592" cy="4572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37360"/>
            <a:ext cx="204825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0F0FF"/>
                </a:solidFill>
                <a:latin typeface="Consolas"/>
              </a:defRPr>
            </a:pPr>
            <a:r>
              <a:t>PHASE 3 [6 MONTHS]</a:t>
            </a:r>
          </a:p>
          <a:p>
            <a:pPr>
              <a:spcAft>
                <a:spcPts val="12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CONTINUOUS SIGNING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Continuous sign language recognition (SLR).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Multi-language (ISL, BSL, ASL).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Custom medical dictionary.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2" y="1554480"/>
            <a:ext cx="2450592" cy="448056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88552" y="1554480"/>
            <a:ext cx="2450592" cy="45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737360"/>
            <a:ext cx="204825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FFFF"/>
                </a:solidFill>
                <a:latin typeface="Consolas"/>
              </a:defRPr>
            </a:pPr>
            <a:r>
              <a:t>PHASE 4 [1 YEAR]</a:t>
            </a:r>
          </a:p>
          <a:p>
            <a:pPr>
              <a:spcAft>
                <a:spcPts val="12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OriginOS SYSTEM SERVICE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Triple-press power trigger.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Floating PiP bubble.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vivo/iQOO Office Kit bridge for Zoom &amp; Teams.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FF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// 13 CLOSING VISION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COMMUNICATION IS A HUMAN RIGHT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Signify proves that accessible on-device AI can bridge worlds without expensive hardware.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11480"/>
            <a:ext cx="23161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F4C14"/>
                </a:solidFill>
                <a:latin typeface="Consolas"/>
              </a:defRPr>
            </a:pPr>
            <a:r>
              <a:t>iQOO 15 PROTOTYPE</a:t>
            </a:r>
          </a:p>
          <a:p>
            <a:pPr algn="r">
              <a:defRPr sz="850">
                <a:solidFill>
                  <a:srgbClr val="FFD000"/>
                </a:solidFill>
                <a:latin typeface="Consolas"/>
              </a:defRPr>
            </a:pPr>
            <a:r>
              <a:t>HEXAGON NPU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505A69"/>
                </a:solidFill>
                <a:latin typeface="Consolas"/>
              </a:defRPr>
            </a:pPr>
            <a:r>
              <a:t>SIGNIFY // iQOO HACKATHON 2026  |  PHONE-FIRST ON-DEVICE AI  |  QUALCOMM SNAPDRAGON NPU  |  KAGGLE ASL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728655" cy="4480560"/>
          </a:xfrm>
          <a:prstGeom prst="roundRect">
            <a:avLst/>
          </a:prstGeom>
          <a:solidFill>
            <a:srgbClr val="101218"/>
          </a:solidFill>
          <a:ln w="15240">
            <a:solidFill>
              <a:srgbClr val="26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28655" cy="45720"/>
          </a:xfrm>
          <a:prstGeom prst="round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D000"/>
                </a:solidFill>
                <a:latin typeface="Segoe UI"/>
              </a:defRPr>
            </a:pPr>
            <a:r>
              <a:t>LET THE SILENCE BE HEARD.</a:t>
            </a:r>
          </a:p>
          <a:p>
            <a:pPr>
              <a:spcAft>
                <a:spcPts val="20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Over 70 million people are waiting for technology to treat their language with dignity.</a:t>
            </a:r>
            <a:br/>
            <a:r>
              <a:t>Signify combines Qualcomm Snapdragon NPU performance, 70% confidence safety gating, and phone-first ergonomics to deliver immediate, two-way conversational freedom.</a:t>
            </a:r>
          </a:p>
          <a:p>
            <a:pPr>
              <a:spcAft>
                <a:spcPts val="600"/>
              </a:spcAft>
              <a:defRPr sz="1050" b="1">
                <a:solidFill>
                  <a:srgbClr val="00F0FF"/>
                </a:solidFill>
                <a:latin typeface="Consolas"/>
              </a:defRPr>
            </a:pPr>
            <a:r>
              <a:t>▶ LIVE WEB PROTOTYPE: </a:t>
            </a:r>
            <a:r>
              <a:rPr sz="1100">
                <a:solidFill>
                  <a:srgbClr val="94A3B8"/>
                </a:solidFill>
                <a:latin typeface="Segoe UI"/>
              </a:rPr>
              <a:t>Test deployed web application on Vercel (https://signifyprototype.vercel.app)</a:t>
            </a:r>
          </a:p>
          <a:p>
            <a:pPr>
              <a:spcAft>
                <a:spcPts val="600"/>
              </a:spcAft>
              <a:defRPr sz="1050" b="1">
                <a:solidFill>
                  <a:srgbClr val="00F0FF"/>
                </a:solidFill>
                <a:latin typeface="Consolas"/>
              </a:defRPr>
            </a:pPr>
            <a:r>
              <a:t>▶ ML INFERENCE BACKEND: </a:t>
            </a:r>
            <a:r>
              <a:rPr sz="1100">
                <a:solidFill>
                  <a:srgbClr val="94A3B8"/>
                </a:solidFill>
                <a:latin typeface="Segoe UI"/>
              </a:rPr>
              <a:t>Live on Render cloud (https://signifyprototype.onrender.com)</a:t>
            </a:r>
          </a:p>
          <a:p>
            <a:pPr>
              <a:spcAft>
                <a:spcPts val="600"/>
              </a:spcAft>
              <a:defRPr sz="1050" b="1">
                <a:solidFill>
                  <a:srgbClr val="00F0FF"/>
                </a:solidFill>
                <a:latin typeface="Consolas"/>
              </a:defRPr>
            </a:pPr>
            <a:r>
              <a:t>▶ OPEN-SOURCE CODE: </a:t>
            </a:r>
            <a:r>
              <a:rPr sz="1100">
                <a:solidFill>
                  <a:srgbClr val="94A3B8"/>
                </a:solidFill>
                <a:latin typeface="Segoe UI"/>
              </a:rPr>
              <a:t>GitHub repository (https://github.com/WHENKEY2007/signifyprototype)</a:t>
            </a:r>
          </a:p>
          <a:p>
            <a:pPr>
              <a:spcAft>
                <a:spcPts val="600"/>
              </a:spcAft>
              <a:defRPr sz="1050" b="1">
                <a:solidFill>
                  <a:srgbClr val="00F0FF"/>
                </a:solidFill>
                <a:latin typeface="Consolas"/>
              </a:defRPr>
            </a:pPr>
            <a:r>
              <a:t>▶ HARDWARE TARGET: </a:t>
            </a:r>
            <a:r>
              <a:rPr sz="1100">
                <a:solidFill>
                  <a:srgbClr val="94A3B8"/>
                </a:solidFill>
                <a:latin typeface="Segoe UI"/>
              </a:rPr>
              <a:t>Qualcomm Snapdragon Hexagon NPU (iQOO 15 Flagship)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