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43891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iQOO HACKATHON 2026 // HEALTHTECH &amp; ACCESSIBILITY TRACK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868680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F5F5F0"/>
                </a:solidFill>
                <a:latin typeface="Arial Narrow"/>
              </a:defRPr>
            </a:pPr>
            <a:r>
              <a:t>SIGNIFY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" y="1691640"/>
            <a:ext cx="1051560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1874519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F5F5F0"/>
                </a:solidFill>
                <a:latin typeface="Arial Narrow"/>
              </a:defRPr>
            </a:pPr>
            <a:r>
              <a:t>LET THE SILENCE</a:t>
            </a:r>
            <a:br/>
            <a:r>
              <a:t>BE HEARD.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" y="3108960"/>
            <a:ext cx="7132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B9B96"/>
                </a:solidFill>
                <a:latin typeface="Arial"/>
              </a:defRPr>
            </a:pPr>
            <a:r>
              <a:t>A phone-first bidirectional communication assistant bridging sign-language users and spoken voice using the Qualcomm Snapdragon Hexagon NPU and Kaggle ASL 250 ML foundation.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4297680"/>
            <a:ext cx="73152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SNAPDRAGON NPU: </a:t>
            </a:r>
            <a:r>
              <a:rPr sz="1000">
                <a:solidFill>
                  <a:srgbClr val="F5F5F0"/>
                </a:solidFill>
                <a:latin typeface="Arial"/>
              </a:rPr>
              <a:t>&lt; 18ms real-time latency on Hexagon DSP via QNN TFLite delegate</a:t>
            </a:r>
          </a:p>
          <a:p>
            <a:pPr>
              <a:spcAft>
                <a:spcPts val="8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TWO-WAY BRIDGE: </a:t>
            </a:r>
            <a:r>
              <a:rPr sz="1000">
                <a:solidFill>
                  <a:srgbClr val="F5F5F0"/>
                </a:solidFill>
                <a:latin typeface="Arial"/>
              </a:rPr>
              <a:t>Forward Sign → Speech AND Reverse Voice → Accessible Text</a:t>
            </a:r>
          </a:p>
          <a:p>
            <a:pPr>
              <a:spcAft>
                <a:spcPts val="8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ZERO HALLUCINATION: </a:t>
            </a:r>
            <a:r>
              <a:rPr sz="1000">
                <a:solidFill>
                  <a:srgbClr val="F5F5F0"/>
                </a:solidFill>
                <a:latin typeface="Arial"/>
              </a:rPr>
              <a:t>Deterministic context-aware grammar engine grounded in recognized signs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0496" y="1179576"/>
            <a:ext cx="2670048" cy="4864608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100816" y="119786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media_17900229505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234440"/>
            <a:ext cx="2560320" cy="475488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540496" y="6089904"/>
            <a:ext cx="267004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SIGNIFY HOME INTERFACE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01 // THE URGENCY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WHEN COMMUNICATION BREAKS, EVERY SECOND MATTERS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Critical communication barriers in emergency triage, law enforcement, and daily transit.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3401568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886200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" y="2926080"/>
            <a:ext cx="288950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FD000"/>
                </a:solidFill>
                <a:latin typeface="Arial Narrow"/>
              </a:defRPr>
            </a:pPr>
            <a:r>
              <a:t>70M+</a:t>
            </a:r>
          </a:p>
          <a:p>
            <a:pPr>
              <a:spcAft>
                <a:spcPts val="1400"/>
              </a:spcAft>
              <a:defRPr sz="1300" b="1">
                <a:solidFill>
                  <a:srgbClr val="F5F5F0"/>
                </a:solidFill>
                <a:latin typeface="Arial Narrow"/>
              </a:defRPr>
            </a:pPr>
            <a:r>
              <a:t>DEAF INDIVIDUALS WORLDWIDE</a:t>
            </a:r>
          </a:p>
          <a:p>
            <a:pPr>
              <a:spcAft>
                <a:spcPts val="8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Sign language is their primary native language.</a:t>
            </a:r>
          </a:p>
          <a:p>
            <a:pPr>
              <a:spcAft>
                <a:spcPts val="8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Acute isolation in healthcare and emergency transit.</a:t>
            </a:r>
          </a:p>
          <a:p>
            <a:pPr>
              <a:spcAft>
                <a:spcPts val="8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Handwritten notes are too slow during medical trauma.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79976" y="2697480"/>
            <a:ext cx="3401568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71816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36008" y="2926080"/>
            <a:ext cx="288950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FD000"/>
                </a:solidFill>
                <a:latin typeface="Arial Narrow"/>
              </a:defRPr>
            </a:pPr>
            <a:r>
              <a:t>&lt; 1%</a:t>
            </a:r>
          </a:p>
          <a:p>
            <a:pPr>
              <a:spcAft>
                <a:spcPts val="1400"/>
              </a:spcAft>
              <a:defRPr sz="1300" b="1">
                <a:solidFill>
                  <a:srgbClr val="F5F5F0"/>
                </a:solidFill>
                <a:latin typeface="Arial Narrow"/>
              </a:defRPr>
            </a:pPr>
            <a:r>
              <a:t>HEARING WHO UNDERSTAND SIGN</a:t>
            </a:r>
          </a:p>
          <a:p>
            <a:pPr>
              <a:spcAft>
                <a:spcPts val="8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Over 99% of doctors and responders cannot read sign.</a:t>
            </a:r>
          </a:p>
          <a:p>
            <a:pPr>
              <a:spcAft>
                <a:spcPts val="8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High risk of dangerous misinterpretation in traffic stops.</a:t>
            </a:r>
          </a:p>
          <a:p>
            <a:pPr>
              <a:spcAft>
                <a:spcPts val="8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Patients unable to convey critical symptoms or allergies.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65592" y="2697480"/>
            <a:ext cx="3401568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57432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21624" y="2926080"/>
            <a:ext cx="288950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FD000"/>
                </a:solidFill>
                <a:latin typeface="Arial Narrow"/>
              </a:defRPr>
            </a:pPr>
            <a:r>
              <a:t>2-4 HRS</a:t>
            </a:r>
          </a:p>
          <a:p>
            <a:pPr>
              <a:spcAft>
                <a:spcPts val="1400"/>
              </a:spcAft>
              <a:defRPr sz="1300" b="1">
                <a:solidFill>
                  <a:srgbClr val="F5F5F0"/>
                </a:solidFill>
                <a:latin typeface="Arial Narrow"/>
              </a:defRPr>
            </a:pPr>
            <a:r>
              <a:t>INTERPRETER ARRIVAL DELAY</a:t>
            </a:r>
          </a:p>
          <a:p>
            <a:pPr>
              <a:spcAft>
                <a:spcPts val="8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Certified medical interpreters are rarely on-site.</a:t>
            </a:r>
          </a:p>
          <a:p>
            <a:pPr>
              <a:spcAft>
                <a:spcPts val="8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Costs exceed $100/hr, inaccessible for daily interactions.</a:t>
            </a:r>
          </a:p>
          <a:p>
            <a:pPr>
              <a:spcAft>
                <a:spcPts val="8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Urgent care demands instant, on-device AI assistance.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02 // THE CORE NOVELTY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ISOLATED SIGNS ARE NOT A CONVERSATION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The fundamental barrier in AI sign language isn't just image classification — it is conversational synthesis.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5303520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788152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2926080"/>
            <a:ext cx="46634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9B9B96"/>
                </a:solidFill>
                <a:latin typeface="Consolas"/>
              </a:defRPr>
            </a:pPr>
            <a:r>
              <a:t>✕  STANDARD RESEARCH APPROACH</a:t>
            </a:r>
          </a:p>
          <a:p>
            <a:pPr>
              <a:spcAft>
                <a:spcPts val="1200"/>
              </a:spcAft>
              <a:defRPr sz="1700" b="1">
                <a:solidFill>
                  <a:srgbClr val="F5F5F0"/>
                </a:solidFill>
                <a:latin typeface="Arial Narrow"/>
              </a:defRPr>
            </a:pPr>
            <a:r>
              <a:t>Raw Token Splatting Without Grammar</a:t>
            </a:r>
          </a:p>
          <a:p>
            <a:pPr>
              <a:spcAft>
                <a:spcPts val="800"/>
              </a:spcAft>
              <a:defRPr sz="900">
                <a:solidFill>
                  <a:srgbClr val="9B9B96"/>
                </a:solidFill>
                <a:latin typeface="Consolas"/>
              </a:defRPr>
            </a:pPr>
            <a:r>
              <a:t>FLOW: Camera ──► Image Model ──► Dumps Raw Words</a:t>
            </a:r>
          </a:p>
          <a:p>
            <a:pPr>
              <a:spcAft>
                <a:spcPts val="1200"/>
              </a:spcAft>
              <a:defRPr sz="1100" b="1">
                <a:solidFill>
                  <a:srgbClr val="FFD000"/>
                </a:solidFill>
                <a:latin typeface="Consolas"/>
              </a:defRPr>
            </a:pPr>
            <a:r>
              <a:t>OUTPUT: "WATER" ... "PLEASE" ... "WATER"</a:t>
            </a:r>
          </a:p>
          <a:p>
            <a:pPr>
              <a:spcAft>
                <a:spcPts val="6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Sounds robotic, grammatically broken, and disjointed.</a:t>
            </a:r>
          </a:p>
          <a:p>
            <a:pPr>
              <a:spcAft>
                <a:spcPts val="6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Confusing and slow for emergency doctors and hearing responders.</a:t>
            </a:r>
          </a:p>
          <a:p>
            <a:pPr>
              <a:spcAft>
                <a:spcPts val="6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Single-frame jitter spams duplicate words endlessly.</a:t>
            </a:r>
          </a:p>
          <a:p>
            <a:pPr>
              <a:spcAft>
                <a:spcPts val="6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Zero awareness of social etiquette or conversational context.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81928" y="2697480"/>
            <a:ext cx="5303520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01968" y="2926080"/>
            <a:ext cx="46634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✓  SIGNIFY CONTEXT ENGINE (OUR NOVELTY)</a:t>
            </a:r>
          </a:p>
          <a:p>
            <a:pPr>
              <a:spcAft>
                <a:spcPts val="1200"/>
              </a:spcAft>
              <a:defRPr sz="1700" b="1">
                <a:solidFill>
                  <a:srgbClr val="F5F5F0"/>
                </a:solidFill>
                <a:latin typeface="Arial Narrow"/>
              </a:defRPr>
            </a:pPr>
            <a:r>
              <a:t>Grounded Natural Sentence Synthesis</a:t>
            </a:r>
          </a:p>
          <a:p>
            <a:pPr>
              <a:spcAft>
                <a:spcPts val="800"/>
              </a:spcAft>
              <a:defRPr sz="900">
                <a:solidFill>
                  <a:srgbClr val="FFD000"/>
                </a:solidFill>
                <a:latin typeface="Consolas"/>
              </a:defRPr>
            </a:pPr>
            <a:r>
              <a:t>FLOW: Camera ──► Verified Buffer ──► Context Grammar</a:t>
            </a:r>
          </a:p>
          <a:p>
            <a:pPr>
              <a:spcAft>
                <a:spcPts val="1200"/>
              </a:spcAft>
              <a:defRPr sz="1100" b="1">
                <a:solidFill>
                  <a:srgbClr val="F5F5F0"/>
                </a:solidFill>
                <a:latin typeface="Consolas"/>
              </a:defRPr>
            </a:pPr>
            <a:r>
              <a:t>SYNTHESIS: [ WATER ] + [ PLEASE ] → "Please may I have some water?"</a:t>
            </a:r>
          </a:p>
          <a:p>
            <a:pPr>
              <a:spcAft>
                <a:spcPts val="6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Medical triage: [ SICK ] + [ OWIE ] → "I am sick and experiencing severe pain."</a:t>
            </a:r>
          </a:p>
          <a:p>
            <a:pPr>
              <a:spcAft>
                <a:spcPts val="6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100% Deterministic &amp; Zero-Hallucination (No made-up words).</a:t>
            </a:r>
          </a:p>
          <a:p>
            <a:pPr>
              <a:spcAft>
                <a:spcPts val="6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Fluent, human-first conversational communication.</a:t>
            </a:r>
          </a:p>
          <a:p>
            <a:pPr>
              <a:spcAft>
                <a:spcPts val="600"/>
              </a:spcAft>
              <a:defRPr sz="1050">
                <a:solidFill>
                  <a:srgbClr val="9B9B96"/>
                </a:solidFill>
                <a:latin typeface="Arial"/>
              </a:defRPr>
            </a:pPr>
            <a:r>
              <a:t>• Operates in &lt; 2ms without slow, costly cloud LLMs.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03 // PRODUCT ARCHITECTURE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THE SMARTPHONE AS A TWO-WAY INTERACTION BRIDGE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Signify completes the communication loop: Forward Sign → Speech and Reverse Voice → Accessible Text.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7863840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48472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862072"/>
            <a:ext cx="7315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FORWARD DIRECTION: GESTURE → VOICE (FOR HEARING LISTENER)</a:t>
            </a:r>
          </a:p>
          <a:p>
            <a:pPr>
              <a:spcAft>
                <a:spcPts val="600"/>
              </a:spcAft>
              <a:defRPr sz="850">
                <a:solidFill>
                  <a:srgbClr val="F5F5F0"/>
                </a:solidFill>
                <a:latin typeface="Consolas"/>
              </a:defRPr>
            </a:pPr>
            <a:r>
              <a:t>Camera Ingest (543 Landmarks) ──► TFLite ASL 250 ──► Sentence Engine ──► Audio Broadcast</a:t>
            </a:r>
          </a:p>
          <a:p>
            <a:pPr>
              <a:defRPr sz="1000">
                <a:solidFill>
                  <a:srgbClr val="9B9B96"/>
                </a:solidFill>
                <a:latin typeface="Arial"/>
              </a:defRPr>
            </a:pPr>
            <a:r>
              <a:t>Deaf signer signs in camera reticle → Synthesizes fluent speech out of phone's stereo speakers.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4572000"/>
            <a:ext cx="7863840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48472" y="45902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4736592"/>
            <a:ext cx="7315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REVERSE DIRECTION: VOICE → ACCESSIBLE TEXT (FOR DEAF SIGNER)</a:t>
            </a:r>
          </a:p>
          <a:p>
            <a:pPr>
              <a:spcAft>
                <a:spcPts val="600"/>
              </a:spcAft>
              <a:defRPr sz="850">
                <a:solidFill>
                  <a:srgbClr val="F5F5F0"/>
                </a:solidFill>
                <a:latin typeface="Consolas"/>
              </a:defRPr>
            </a:pPr>
            <a:r>
              <a:t>Dual Mic Array ──► Real-Time STT ──► Noise Filter ──► 24pt High-Contrast Subtitles</a:t>
            </a:r>
          </a:p>
          <a:p>
            <a:pPr>
              <a:defRPr sz="1000">
                <a:solidFill>
                  <a:srgbClr val="9B9B96"/>
                </a:solidFill>
                <a:latin typeface="Arial"/>
              </a:defRPr>
            </a:pPr>
            <a:r>
              <a:t>Hearing doctor/officer speaks → Instant oversized readable text displayed for the deaf user.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06256" y="2505456"/>
            <a:ext cx="2130552" cy="3858767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927080" y="252374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media_17900229505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560320"/>
            <a:ext cx="2020824" cy="374903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906256" y="6409943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TWO-WAY BRIDGE HERO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04 // LIVE PROTOTYPE REALITY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KAGGLE ASL 250 ML VISION FOUNDATION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Active live camera vision with MediaPipe landmark tracking and TFLite model running right now.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7863840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48472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926080"/>
            <a:ext cx="7315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F5F0"/>
                </a:solidFill>
                <a:latin typeface="Arial Narrow"/>
              </a:defRPr>
            </a:pPr>
            <a:r>
              <a:t>VISION EXTRACTION &amp; INFERENCE PIPELINE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1. CAMERA INGEST</a:t>
            </a:r>
          </a:p>
          <a:p>
            <a:pPr>
              <a:spcAft>
                <a:spcPts val="5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60 FPS mirror vision with custom high-contrast gold reticle.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2. MEDIAPIPE TRACKING</a:t>
            </a:r>
          </a:p>
          <a:p>
            <a:pPr>
              <a:spcAft>
                <a:spcPts val="5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543 spatial coordinates (468 face mesh, 21 pose, 42 dual-hand points).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3. TFLITE SIGNATURE RUNNER</a:t>
            </a:r>
          </a:p>
          <a:p>
            <a:pPr>
              <a:spcAft>
                <a:spcPts val="5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Rolling 45-frame buffer fed into 1D-CNN/Transformer encoder.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4. KAGGLE 250 VOCABULARY</a:t>
            </a:r>
          </a:p>
          <a:p>
            <a:pPr>
              <a:spcAft>
                <a:spcPts val="5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Predicts authentic classes (e.g. SICK, OWIE, WATER, PLEASE, CALL ON PHONE).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5. LIVE CLOUD BRIDGE</a:t>
            </a:r>
          </a:p>
          <a:p>
            <a:pPr>
              <a:spcAft>
                <a:spcPts val="5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Render FastAPI backend (https://signifyprototype.onrender.com) connected live.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06256" y="2505456"/>
            <a:ext cx="2048256" cy="3858767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844784" y="252374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edia_1790023242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560320"/>
            <a:ext cx="1938528" cy="374903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906256" y="6409943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LIVE VISION TRACKING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05 // TRUST &amp; CLINICAL SAFETY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DUAL SAFETY GATING: 70% CONFIDENCE &amp; TEMPORAL STABILITY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Medical and emergency contexts cannot tolerate random AI hallucinations or single-frame jitter.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11000232" cy="5943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2843784"/>
            <a:ext cx="10451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DECISION FLOW: PREDICTION ──► [ GATE 1: ≥ 70.0% SOFTMAX? ] ──► [ GATE 2: 2-FRAME STABILITY? ] ──► ACCEPT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3474720"/>
            <a:ext cx="5303520" cy="283464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88152" y="34930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3657600"/>
            <a:ext cx="475488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✓ ACCEPTED GESTURE (≥ 70.0% CONFIDENCE)</a:t>
            </a:r>
          </a:p>
          <a:p>
            <a:pPr>
              <a:spcAft>
                <a:spcPts val="1000"/>
              </a:spcAft>
              <a:defRPr sz="1500" b="1">
                <a:solidFill>
                  <a:srgbClr val="F5F5F0"/>
                </a:solidFill>
                <a:latin typeface="Arial Narrow"/>
              </a:defRPr>
            </a:pPr>
            <a:r>
              <a:t>Strict Threshold + 2-Frame Temporal Lock</a:t>
            </a:r>
          </a:p>
          <a:p>
            <a:pPr>
              <a:spcAft>
                <a:spcPts val="5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Softmax Probability ≥ 70.0% required.</a:t>
            </a:r>
          </a:p>
          <a:p>
            <a:pPr>
              <a:spcAft>
                <a:spcPts val="5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Temporal Filter: Gesture must persist stably for at least 2 consecutive frames.</a:t>
            </a:r>
          </a:p>
          <a:p>
            <a:pPr>
              <a:spcAft>
                <a:spcPts val="5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Haptic Pulse: 1 crisp physical vibration pulse (45ms).</a:t>
            </a:r>
          </a:p>
          <a:p>
            <a:pPr>
              <a:spcAft>
                <a:spcPts val="5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Deduplication: Prevents stuttering spam (e.g. SICK SICK SICK).</a:t>
            </a:r>
          </a:p>
          <a:p>
            <a:pPr>
              <a:spcAft>
                <a:spcPts val="5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Result: Token safely appended to word buffer.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81928" y="3474720"/>
            <a:ext cx="5303520" cy="283464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475720" y="34930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6248" y="3657600"/>
            <a:ext cx="475488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9B9B96"/>
                </a:solidFill>
                <a:latin typeface="Consolas"/>
              </a:defRPr>
            </a:pPr>
            <a:r>
              <a:t>✕ REJECTED GESTURE (&lt; 70.0% CONFIDENCE)</a:t>
            </a:r>
          </a:p>
          <a:p>
            <a:pPr>
              <a:spcAft>
                <a:spcPts val="1000"/>
              </a:spcAft>
              <a:defRPr sz="1500" b="1">
                <a:solidFill>
                  <a:srgbClr val="F5F5F0"/>
                </a:solidFill>
                <a:latin typeface="Arial Narrow"/>
              </a:defRPr>
            </a:pPr>
            <a:r>
              <a:t>Safety-Gate Retry &amp; Haptic Cue</a:t>
            </a:r>
          </a:p>
          <a:p>
            <a:pPr>
              <a:spcAft>
                <a:spcPts val="5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Suppresses ambiguous transitions (e.g. 52% blurred hand motions).</a:t>
            </a:r>
          </a:p>
          <a:p>
            <a:pPr>
              <a:spcAft>
                <a:spcPts val="5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Zero Hallucination: Never passes unverified words to the sentence engine.</a:t>
            </a:r>
          </a:p>
          <a:p>
            <a:pPr>
              <a:spcAft>
                <a:spcPts val="5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Silent Cue: 2 quick vibration pulses prompt user to re-sign.</a:t>
            </a:r>
          </a:p>
          <a:p>
            <a:pPr>
              <a:spcAft>
                <a:spcPts val="5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HUD Status: Flashes amber reticle: 'POSITION HAND IN FRAME'.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06 // MEANINGFUL SENTENCE SYNTHESIS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GROUNDED CONTEXT-AWARE SENTENCE BUILDER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Turning recognized gesture tokens into grammatically complete, natural English sentences.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7863840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48472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926080"/>
            <a:ext cx="7315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F5F0"/>
                </a:solidFill>
                <a:latin typeface="Arial Narrow"/>
              </a:defRPr>
            </a:pPr>
            <a:r>
              <a:t>DETERMINISTIC GRAMMAR SYNTHESIS</a:t>
            </a:r>
          </a:p>
          <a:p>
            <a:pPr>
              <a:spcAft>
                <a:spcPts val="8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• [ WATER ] + [ PLEASE ] </a:t>
            </a:r>
            <a:r>
              <a:rPr sz="1050" b="1">
                <a:solidFill>
                  <a:srgbClr val="F5F5F0"/>
                </a:solidFill>
                <a:latin typeface="Arial"/>
              </a:rPr>
              <a:t>→  "Please may I have some water?"</a:t>
            </a:r>
          </a:p>
          <a:p>
            <a:pPr>
              <a:spcAft>
                <a:spcPts val="8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• [ SICK ] + [ OWIE ] </a:t>
            </a:r>
            <a:r>
              <a:rPr sz="1050" b="1">
                <a:solidFill>
                  <a:srgbClr val="F5F5F0"/>
                </a:solidFill>
                <a:latin typeface="Arial"/>
              </a:rPr>
              <a:t>→  "I am sick and experiencing severe pain."</a:t>
            </a:r>
          </a:p>
          <a:p>
            <a:pPr>
              <a:spcAft>
                <a:spcPts val="8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• [ POLICE ] + [ CALL ON PHONE ] </a:t>
            </a:r>
            <a:r>
              <a:rPr sz="1050" b="1">
                <a:solidFill>
                  <a:srgbClr val="F5F5F0"/>
                </a:solidFill>
                <a:latin typeface="Arial"/>
              </a:rPr>
              <a:t>→  "Please call the police immediately."</a:t>
            </a:r>
          </a:p>
          <a:p>
            <a:pPr>
              <a:spcAft>
                <a:spcPts val="8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• [ WHERE ] + [ BATH ] </a:t>
            </a:r>
            <a:r>
              <a:rPr sz="1050" b="1">
                <a:solidFill>
                  <a:srgbClr val="F5F5F0"/>
                </a:solidFill>
                <a:latin typeface="Arial"/>
              </a:rPr>
              <a:t>→  "Excuse me, where is the nearest restroom?"</a:t>
            </a:r>
          </a:p>
          <a:p>
            <a:pPr>
              <a:spcAft>
                <a:spcPts val="8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• [ BYE ] </a:t>
            </a:r>
            <a:r>
              <a:rPr sz="1050" b="1">
                <a:solidFill>
                  <a:srgbClr val="F5F5F0"/>
                </a:solidFill>
                <a:latin typeface="Arial"/>
              </a:rPr>
              <a:t>→  "Goodbye, have a great day!" (Single-token synthesis)</a:t>
            </a:r>
          </a:p>
          <a:p>
            <a:pPr>
              <a:spcBef>
                <a:spcPts val="1600"/>
              </a:spcBef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Latency: &lt; 2ms  |  Hallucination: 0%  |  Resilience: 100% Offline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06256" y="2505456"/>
            <a:ext cx="1993392" cy="3858767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89920" y="252374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edia_1790023288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560320"/>
            <a:ext cx="1883664" cy="374903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906256" y="6409943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AUDIO BROADCAST &amp; WAVEFORM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07 // LIVE TWO-WAY DIALOGUE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TWO-WAY LIVE CONVERSATION STREAM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A unified conversation stream bridging both participants with instant audio playback.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7863840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48472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926080"/>
            <a:ext cx="7315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F5F0"/>
                </a:solidFill>
                <a:latin typeface="Arial Narrow"/>
              </a:defRPr>
            </a:pPr>
            <a:r>
              <a:t>FULL TWO-WAY COMMUNICATION BRIDGE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DISTINCT SPEAKER ROLES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Gold badge for SIGN (YOU) vs. Gray card for SPEECH (OTHER PERSON).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SIGN TOKEN TRACEABILITY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Shows underlying Kaggle tokens (e.g. [HELLO HOW YOU], [BYE]).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ONE-TOUCH AUDIO PLAYBACK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Play/Stop speech synthesis button on every chat bubble.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QUICK ACTIONS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[ 🤟 SIGN ] camera modal &amp; [ 🎤 SPEAK ] voice modal always available.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CONVERSATION MEMORY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Maintains full transcript for medical triage or emergency review.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06256" y="2505456"/>
            <a:ext cx="2057400" cy="3858767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853928" y="252374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edia_17900233586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560320"/>
            <a:ext cx="1947672" cy="374903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906256" y="6409943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CONVERSATION MODE STREAM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08 // REVERSE VOICE INGEST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VOICE-TO-TEXT: LISTENING TO THE HEARING PARTNER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Capturing speech in high-noise environments with real-time waveform feedback.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7863840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48472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926080"/>
            <a:ext cx="7315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F5F0"/>
                </a:solidFill>
                <a:latin typeface="Arial Narrow"/>
              </a:defRPr>
            </a:pPr>
            <a:r>
              <a:t>VOICE CAPTURE &amp; TRANSCRIPTION FEATURES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ONE-TAP VOICE CAPTURE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Large high-contrast microphone button designed for effortless hand-off.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REAL-TIME WAVEFORM FEEDBACK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Visual pulsing waveform confirms active audio capture to the deaf user.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DIRECTIONAL NOISE SUPPRESSION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Leverages iQOO dual-microphone array to isolate speech from ambient hospital noise.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SINGLE-DISPATCH TRANSCRIPTION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Zero-duplicate dispatch engine prevents echo messages in the chat stream.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06256" y="2505456"/>
            <a:ext cx="1993392" cy="3858767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89920" y="252374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edia_1790023432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560320"/>
            <a:ext cx="1883664" cy="374903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906256" y="6409943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TAP TO SPEAK INTERFACE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09 // HIGH-CONTRAST ACCESSIBILITY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ACCESSIBLE HIGH-CONTRAST READOUT FOR SIGNERS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Clear, legible visual output designed for readability across a hospital bed or desk.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7863840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48472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926080"/>
            <a:ext cx="7315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F5F0"/>
                </a:solidFill>
                <a:latin typeface="Arial Narrow"/>
              </a:defRPr>
            </a:pPr>
            <a:r>
              <a:t>DEAF-FIRST ERGONOMIC DESIGN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24pt HIGH-CONTRAST DISPLAY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Bold white text framed in glowing cyber-gold card on OLED black.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100% VISIBLE STATUS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Instant visual confirmation that the speech has been accurately converted.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AUDIO REPLAY CONTROL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Replay button allows deaf user to verify what audio was transcribed.</a:t>
            </a:r>
          </a:p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ONE-CLICK TO CONVERSATION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Instantly appends transcribed speech to the unified conversation bridge.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06256" y="2505456"/>
            <a:ext cx="2139696" cy="3858767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936224" y="252374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edia_17900235657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560320"/>
            <a:ext cx="2029968" cy="374903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906256" y="6409943"/>
            <a:ext cx="213969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HIGH-CONTRAST SPEECH CARD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10 // HARDWARE ACCELERATION BENCHMARK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QUALCOMM SNAPDRAGON HEXAGON NPU ACCELERATION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Unlocking sub-18ms on-device inference using Qualcomm AI Engine Direct (QNN SDK).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11000232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2807208"/>
            <a:ext cx="1045159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FD000"/>
                </a:solidFill>
                <a:latin typeface="Consolas"/>
              </a:defRPr>
            </a:pPr>
            <a:r>
              <a:t>HARDWARE PIPELINE: CAMERA (60 FPS) ──► MEDIAPIPE (543 KEYPOINTS) ──► TFLITE (INT8) ──► QUALCOMM QNN ──► HEXAGON DSP</a:t>
            </a:r>
          </a:p>
          <a:p>
            <a:pPr>
              <a:defRPr sz="950">
                <a:solidFill>
                  <a:srgbClr val="9B9B96"/>
                </a:solidFill>
                <a:latin typeface="Arial"/>
              </a:defRPr>
            </a:pPr>
            <a:r>
              <a:t>Direct AHARDWAREBUFFER memory binding offloads matrix math directly to Hexagon NPU with zero CPU memory copies.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3566160"/>
            <a:ext cx="2542032" cy="274320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26664" y="35844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3749040"/>
            <a:ext cx="2084832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9B9B96"/>
                </a:solidFill>
                <a:latin typeface="Consolas"/>
              </a:defRPr>
            </a:pPr>
            <a:r>
              <a:t>INFERENCE LATENCY</a:t>
            </a:r>
          </a:p>
          <a:p>
            <a:pPr>
              <a:spcAft>
                <a:spcPts val="1000"/>
              </a:spcAft>
              <a:defRPr sz="3000" b="1">
                <a:solidFill>
                  <a:srgbClr val="FFD000"/>
                </a:solidFill>
                <a:latin typeface="Arial Narrow"/>
              </a:defRPr>
            </a:pPr>
            <a:r>
              <a:t>&lt; 18 ms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vs. CPU: 145 ms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vs. Cloud: 280 ms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Real-time 60 FPS sub-frame speed.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10712" y="3566160"/>
            <a:ext cx="2542032" cy="274320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43016" y="35844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39312" y="3749040"/>
            <a:ext cx="2084832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9B9B96"/>
                </a:solidFill>
                <a:latin typeface="Consolas"/>
              </a:defRPr>
            </a:pPr>
            <a:r>
              <a:t>POWER EFFICIENCY</a:t>
            </a:r>
          </a:p>
          <a:p>
            <a:pPr>
              <a:spcAft>
                <a:spcPts val="1000"/>
              </a:spcAft>
              <a:defRPr sz="3000" b="1">
                <a:solidFill>
                  <a:srgbClr val="FFD000"/>
                </a:solidFill>
                <a:latin typeface="Arial Narrow"/>
              </a:defRPr>
            </a:pPr>
            <a:r>
              <a:t>0.42 W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vs. CPU: 3.8 W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No phone overheating.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All-day continuous operation.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27064" y="3566160"/>
            <a:ext cx="2542032" cy="274320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659368" y="35844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5664" y="3749040"/>
            <a:ext cx="2084832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9B9B96"/>
                </a:solidFill>
                <a:latin typeface="Consolas"/>
              </a:defRPr>
            </a:pPr>
            <a:r>
              <a:t>BANDWIDTH COST</a:t>
            </a:r>
          </a:p>
          <a:p>
            <a:pPr>
              <a:spcAft>
                <a:spcPts val="1000"/>
              </a:spcAft>
              <a:defRPr sz="3000" b="1">
                <a:solidFill>
                  <a:srgbClr val="FFD000"/>
                </a:solidFill>
                <a:latin typeface="Arial Narrow"/>
              </a:defRPr>
            </a:pPr>
            <a:r>
              <a:t>0 KB/s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vs. Cloud: 120 KB/s/frame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100% offline.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Works in elevators &amp; flights.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43416" y="3566160"/>
            <a:ext cx="2542032" cy="274320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475720" y="35844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72016" y="3749040"/>
            <a:ext cx="2084832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9B9B96"/>
                </a:solidFill>
                <a:latin typeface="Consolas"/>
              </a:defRPr>
            </a:pPr>
            <a:r>
              <a:t>DATA PRIVACY</a:t>
            </a:r>
          </a:p>
          <a:p>
            <a:pPr>
              <a:spcAft>
                <a:spcPts val="1000"/>
              </a:spcAft>
              <a:defRPr sz="3000" b="1">
                <a:solidFill>
                  <a:srgbClr val="FFD000"/>
                </a:solidFill>
                <a:latin typeface="Arial Narrow"/>
              </a:defRPr>
            </a:pPr>
            <a:r>
              <a:t>100% LOCAL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Zero video leaves device.</a:t>
            </a:r>
          </a:p>
          <a:p>
            <a:pPr>
              <a:spcAft>
                <a:spcPts val="300"/>
              </a:spcAft>
              <a:defRPr sz="950">
                <a:solidFill>
                  <a:srgbClr val="F5F5F0"/>
                </a:solidFill>
                <a:latin typeface="Arial"/>
              </a:defRPr>
            </a:pPr>
            <a:r>
              <a:t>Full HIPAA medical privacy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11 // ANDROID IMPLEMENTATION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HOW SIGNIFY RUNS ON AN IQOO ANDROID PHONE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Two clear pathways: Rapid APK packaging for hackathons and the native Jetpack CameraX production architecture.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5303520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788152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92608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PATH A: RAPID APK / PWA PACKAGING</a:t>
            </a:r>
          </a:p>
          <a:p>
            <a:pPr>
              <a:spcAft>
                <a:spcPts val="1200"/>
              </a:spcAft>
              <a:defRPr sz="1700" b="1">
                <a:solidFill>
                  <a:srgbClr val="F5F5F0"/>
                </a:solidFill>
                <a:latin typeface="Arial Narrow"/>
              </a:defRPr>
            </a:pPr>
            <a:r>
              <a:t>Capacitor Mobile Wrapper &amp; WebAPK</a:t>
            </a:r>
          </a:p>
          <a:p>
            <a:pPr>
              <a:spcAft>
                <a:spcPts val="8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Capacitor CLI: Wraps Vite/React build into native Android Studio project.</a:t>
            </a:r>
          </a:p>
          <a:p>
            <a:pPr>
              <a:spcAft>
                <a:spcPts val="8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Manifest Permissions: Camera, Record Audio, Vibrator.</a:t>
            </a:r>
          </a:p>
          <a:p>
            <a:pPr>
              <a:spcAft>
                <a:spcPts val="8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APK Build: Compiles standalone .apk installable on any Android device.</a:t>
            </a:r>
          </a:p>
          <a:p>
            <a:pPr>
              <a:spcAft>
                <a:spcPts val="800"/>
              </a:spcAft>
              <a:defRPr sz="1000">
                <a:solidFill>
                  <a:srgbClr val="9B9B96"/>
                </a:solidFill>
                <a:latin typeface="Arial"/>
              </a:defRPr>
            </a:pPr>
            <a:r>
              <a:t>• Instant PWA: Judges opening our Vercel link on Android get an 'Install App' prompt for full-screen standalone execution.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81928" y="2697480"/>
            <a:ext cx="5303520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56248" y="292608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PATH B: NATIVE ANDROID STACK (iQOO FLAGSHIP)</a:t>
            </a:r>
          </a:p>
          <a:p>
            <a:pPr>
              <a:spcAft>
                <a:spcPts val="1200"/>
              </a:spcAft>
              <a:defRPr sz="1700" b="1">
                <a:solidFill>
                  <a:srgbClr val="F5F5F0"/>
                </a:solidFill>
                <a:latin typeface="Arial Narrow"/>
              </a:defRPr>
            </a:pPr>
            <a:r>
              <a:t>Deep Qualcomm QNN &amp; Android OS Pipeline</a:t>
            </a:r>
          </a:p>
          <a:p>
            <a:pPr>
              <a:spcAft>
                <a:spcPts val="800"/>
              </a:spcAft>
              <a:defRPr sz="1000">
                <a:solidFill>
                  <a:srgbClr val="F5F5F0"/>
                </a:solidFill>
                <a:latin typeface="Arial"/>
              </a:defRPr>
            </a:pPr>
            <a:r>
              <a:t>• CameraX ImageAnalysis: 60 FPS zero-copy YUV stream from camera sensor.</a:t>
            </a:r>
          </a:p>
          <a:p>
            <a:pPr>
              <a:spcAft>
                <a:spcPts val="800"/>
              </a:spcAft>
              <a:defRPr sz="1000">
                <a:solidFill>
                  <a:srgbClr val="F5F5F0"/>
                </a:solidFill>
                <a:latin typeface="Arial"/>
              </a:defRPr>
            </a:pPr>
            <a:r>
              <a:t>• MediaPipe Tasks Vision SDK: Native Android HandLandmarker extraction.</a:t>
            </a:r>
          </a:p>
          <a:p>
            <a:pPr>
              <a:spcAft>
                <a:spcPts val="800"/>
              </a:spcAft>
              <a:defRPr sz="1000">
                <a:solidFill>
                  <a:srgbClr val="F5F5F0"/>
                </a:solidFill>
                <a:latin typeface="Arial"/>
              </a:defRPr>
            </a:pPr>
            <a:r>
              <a:t>• TFLite QNN Delegate: libQnnTfliteDelegate.so offloads tensor math to Hexagon NPU.</a:t>
            </a:r>
          </a:p>
          <a:p>
            <a:pPr>
              <a:spcAft>
                <a:spcPts val="800"/>
              </a:spcAft>
              <a:defRPr sz="1000">
                <a:solidFill>
                  <a:srgbClr val="F5F5F0"/>
                </a:solidFill>
                <a:latin typeface="Arial"/>
              </a:defRPr>
            </a:pPr>
            <a:r>
              <a:t>• VibratorService: Precise linear resonant haptic confirmation pulses.</a:t>
            </a:r>
          </a:p>
          <a:p>
            <a:pPr>
              <a:spcAft>
                <a:spcPts val="800"/>
              </a:spcAft>
              <a:defRPr sz="1000">
                <a:solidFill>
                  <a:srgbClr val="F5F5F0"/>
                </a:solidFill>
                <a:latin typeface="Arial"/>
              </a:defRPr>
            </a:pPr>
            <a:r>
              <a:t>• Android TTS: Low-latency on-device vocal synthesis.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12 // PRODUCTION TIMELINE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FROM PROTOTYPE TO SYSTEM-LEVEL ACCESSIBILITY SERVICE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A phased engineering roadmap to bring Signify to every iQOO user.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2542032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026664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2880360"/>
            <a:ext cx="2084832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D000"/>
                </a:solidFill>
                <a:latin typeface="Consolas"/>
              </a:defRPr>
            </a:pPr>
            <a:r>
              <a:t>PHASE 1  [COMPLETED]</a:t>
            </a:r>
          </a:p>
          <a:p>
            <a:pPr>
              <a:spcAft>
                <a:spcPts val="1200"/>
              </a:spcAft>
              <a:defRPr sz="1300" b="1">
                <a:solidFill>
                  <a:srgbClr val="F5F5F0"/>
                </a:solidFill>
                <a:latin typeface="Arial Narrow"/>
              </a:defRPr>
            </a:pPr>
            <a:r>
              <a:t>WEB PROTOTYPE &amp; ML BACKEND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Deployed on Vercel.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FastAPI on Render cloud.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250 Kaggle classes mapped.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70% confidence gating.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Sentence engine active.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10712" y="2697480"/>
            <a:ext cx="2542032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43016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39312" y="2880360"/>
            <a:ext cx="2084832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D000"/>
                </a:solidFill>
                <a:latin typeface="Consolas"/>
              </a:defRPr>
            </a:pPr>
            <a:r>
              <a:t>PHASE 2  [NEXT 60 DAYS]</a:t>
            </a:r>
          </a:p>
          <a:p>
            <a:pPr>
              <a:spcAft>
                <a:spcPts val="1200"/>
              </a:spcAft>
              <a:defRPr sz="1300" b="1">
                <a:solidFill>
                  <a:srgbClr val="F5F5F0"/>
                </a:solidFill>
                <a:latin typeface="Arial Narrow"/>
              </a:defRPr>
            </a:pPr>
            <a:r>
              <a:t>NATIVE ANDROID &amp; NPU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Capacitor APK packaging.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CameraX integration.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Qualcomm QNN delegate compilation for Hexagon NPU.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&lt; 0.45W power target.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27064" y="2697480"/>
            <a:ext cx="2542032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59368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55664" y="2880360"/>
            <a:ext cx="2084832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D000"/>
                </a:solidFill>
                <a:latin typeface="Consolas"/>
              </a:defRPr>
            </a:pPr>
            <a:r>
              <a:t>PHASE 3  [6 MONTHS]</a:t>
            </a:r>
          </a:p>
          <a:p>
            <a:pPr>
              <a:spcAft>
                <a:spcPts val="1200"/>
              </a:spcAft>
              <a:defRPr sz="1300" b="1">
                <a:solidFill>
                  <a:srgbClr val="F5F5F0"/>
                </a:solidFill>
                <a:latin typeface="Arial Narrow"/>
              </a:defRPr>
            </a:pPr>
            <a:r>
              <a:t>CONTINUOUS SIGNING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Continuous sign language recognition (SLR).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Multi-language support (ISL, BSL, ASL).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Custom medical dictionary.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43416" y="2697480"/>
            <a:ext cx="2542032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475720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72016" y="2880360"/>
            <a:ext cx="2084832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FFD000"/>
                </a:solidFill>
                <a:latin typeface="Consolas"/>
              </a:defRPr>
            </a:pPr>
            <a:r>
              <a:t>PHASE 4  [1 YEAR]</a:t>
            </a:r>
          </a:p>
          <a:p>
            <a:pPr>
              <a:spcAft>
                <a:spcPts val="1200"/>
              </a:spcAft>
              <a:defRPr sz="1300" b="1">
                <a:solidFill>
                  <a:srgbClr val="F5F5F0"/>
                </a:solidFill>
                <a:latin typeface="Arial Narrow"/>
              </a:defRPr>
            </a:pPr>
            <a:r>
              <a:t>OriginOS SYSTEM SERVICE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Triple-press power button trigger.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Floating PiP bubble over video calls.</a:t>
            </a:r>
          </a:p>
          <a:p>
            <a:pPr>
              <a:spcAft>
                <a:spcPts val="600"/>
              </a:spcAft>
              <a:defRPr sz="950">
                <a:solidFill>
                  <a:srgbClr val="9B9B96"/>
                </a:solidFill>
                <a:latin typeface="Arial"/>
              </a:defRPr>
            </a:pPr>
            <a:r>
              <a:t>• vivo/iQOO Office Kit bridge for Zoom &amp; Teams.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13 // CLOSING VISION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8580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5F5F0"/>
                </a:solidFill>
                <a:latin typeface="Arial Narrow"/>
              </a:defRPr>
            </a:pPr>
            <a:r>
              <a:t>COMMUNICATION IS A HUMAN RIGHT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B9B96"/>
                </a:solidFill>
                <a:latin typeface="Arial"/>
              </a:defRPr>
            </a:pPr>
            <a:r>
              <a:t>Signify proves that accessible on-device AI can bridge worlds without expensive hardware.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697480"/>
            <a:ext cx="11000232" cy="36118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84864" y="27157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2926080"/>
            <a:ext cx="1026871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D000"/>
                </a:solidFill>
                <a:latin typeface="Arial Narrow"/>
              </a:defRPr>
            </a:pPr>
            <a:r>
              <a:t>LET THE SILENCE BE HEARD.</a:t>
            </a:r>
          </a:p>
          <a:p>
            <a:pPr>
              <a:spcAft>
                <a:spcPts val="1800"/>
              </a:spcAft>
              <a:defRPr sz="1200">
                <a:solidFill>
                  <a:srgbClr val="F5F5F0"/>
                </a:solidFill>
                <a:latin typeface="Arial"/>
              </a:defRPr>
            </a:pPr>
            <a:r>
              <a:t>Over 70 million people are waiting for technology to treat their language with dignity.</a:t>
            </a:r>
            <a:br/>
            <a:r>
              <a:t>Signify combines Qualcomm Snapdragon NPU performance, 70% confidence safety gating, and phone-first ergonomics to deliver immediate, two-way conversational freedom.</a:t>
            </a:r>
          </a:p>
          <a:p>
            <a:pPr>
              <a:spcAft>
                <a:spcPts val="6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LIVE PROTOTYPE: </a:t>
            </a:r>
            <a:r>
              <a:rPr sz="1000">
                <a:solidFill>
                  <a:srgbClr val="9B9B96"/>
                </a:solidFill>
                <a:latin typeface="Arial"/>
              </a:rPr>
              <a:t>Test deployed web application on Vercel.</a:t>
            </a:r>
          </a:p>
          <a:p>
            <a:pPr>
              <a:spcAft>
                <a:spcPts val="6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ML BACKEND: </a:t>
            </a:r>
            <a:r>
              <a:rPr sz="1000">
                <a:solidFill>
                  <a:srgbClr val="9B9B96"/>
                </a:solidFill>
                <a:latin typeface="Arial"/>
              </a:rPr>
              <a:t>Live on Render (https://signifyprototype.onrender.com).</a:t>
            </a:r>
          </a:p>
          <a:p>
            <a:pPr>
              <a:spcAft>
                <a:spcPts val="6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CODE REPOSITORY: </a:t>
            </a:r>
            <a:r>
              <a:rPr sz="1000">
                <a:solidFill>
                  <a:srgbClr val="9B9B96"/>
                </a:solidFill>
                <a:latin typeface="Arial"/>
              </a:rPr>
              <a:t>https://github.com/WHENKEY2007/signifyprototype</a:t>
            </a:r>
          </a:p>
          <a:p>
            <a:pPr>
              <a:spcAft>
                <a:spcPts val="6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▶ HARDWARE TARGET: </a:t>
            </a:r>
            <a:r>
              <a:rPr sz="1000">
                <a:solidFill>
                  <a:srgbClr val="9B9B96"/>
                </a:solidFill>
                <a:latin typeface="Arial"/>
              </a:rPr>
              <a:t>Qualcomm Snapdragon Hexagon NPU (iQOO 15 Flagship).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