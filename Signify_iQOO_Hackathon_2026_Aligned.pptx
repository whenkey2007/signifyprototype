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" y="438912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iQOO HACKATHON 2026 // HEALTHTECH &amp; ACCESSIBILITY TRACK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777240"/>
            <a:ext cx="6400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000" b="1">
                <a:solidFill>
                  <a:srgbClr val="F5F5F0"/>
                </a:solidFill>
                <a:latin typeface="Arial Narrow"/>
              </a:defRPr>
            </a:pPr>
            <a:r>
              <a:t>SIGNIFY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1691640"/>
            <a:ext cx="1051560" cy="7315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1874519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400" b="1">
                <a:solidFill>
                  <a:srgbClr val="F5F5F0"/>
                </a:solidFill>
                <a:latin typeface="Arial Narrow"/>
              </a:defRPr>
            </a:pPr>
            <a:r>
              <a:t>LET THE SILENCE</a:t>
            </a:r>
            <a:br/>
            <a:r>
              <a:t>BE HEARD.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792" y="3154680"/>
            <a:ext cx="7498079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B9B96"/>
                </a:solidFill>
                <a:latin typeface="Arial"/>
              </a:defRPr>
            </a:pPr>
            <a:r>
              <a:t>A phone-first bidirectional communication assistant bridging sign-language users and spoken voice using the Qualcomm Snapdragon Hexagon NPU and Kaggle ASL 250 ML foundation.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" y="4297680"/>
            <a:ext cx="7498079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SNAPDRAGON NPU: </a:t>
            </a:r>
            <a:r>
              <a:rPr sz="1050" b="1">
                <a:solidFill>
                  <a:srgbClr val="F5F5F0"/>
                </a:solidFill>
                <a:latin typeface="Arial"/>
              </a:rPr>
              <a:t>&lt; 18ms real-time latency on Hexagon DSP via QNN TFLite delegate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TWO-WAY BRIDGE: </a:t>
            </a:r>
            <a:r>
              <a:rPr sz="1050" b="1">
                <a:solidFill>
                  <a:srgbClr val="F5F5F0"/>
                </a:solidFill>
                <a:latin typeface="Arial"/>
              </a:rPr>
              <a:t>Forward Sign → Speech AND Reverse Voice → Accessible Text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ZERO HALLUCINATION: </a:t>
            </a:r>
            <a:r>
              <a:rPr sz="1050" b="1">
                <a:solidFill>
                  <a:srgbClr val="F5F5F0"/>
                </a:solidFill>
                <a:latin typeface="Arial"/>
              </a:rPr>
              <a:t>Deterministic context-aware grammar engine grounded in recognized signs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41080" y="1005840"/>
            <a:ext cx="2767222" cy="52578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98574" y="10241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051560"/>
            <a:ext cx="2675782" cy="49651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41080" y="6025896"/>
            <a:ext cx="276722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SIGNIFY HOME INTERFACE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01 // THE URGENCY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WHEN COMMUNICATION BREAKS, EVERY SECOND MATTERS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Critical communication barriers in emergency triage, law enforcement, and daily transit.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34290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136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6968" y="2743200"/>
            <a:ext cx="284378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600" b="1">
                <a:solidFill>
                  <a:srgbClr val="FFD000"/>
                </a:solidFill>
                <a:latin typeface="Arial Narrow"/>
              </a:defRPr>
            </a:pPr>
            <a:r>
              <a:t>70M+</a:t>
            </a:r>
          </a:p>
          <a:p>
            <a:pPr>
              <a:spcAft>
                <a:spcPts val="20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DEAF INDIVIDUALS WORLDWIDE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Sign language </a:t>
            </a:r>
            <a:r>
              <a:rPr sz="1050">
                <a:solidFill>
                  <a:srgbClr val="9B9B96"/>
                </a:solidFill>
                <a:latin typeface="Arial"/>
              </a:rPr>
              <a:t>is their primary native language.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Acute isolation </a:t>
            </a:r>
            <a:r>
              <a:rPr sz="1050">
                <a:solidFill>
                  <a:srgbClr val="9B9B96"/>
                </a:solidFill>
                <a:latin typeface="Arial"/>
              </a:rPr>
              <a:t>in healthcare and emergency transit.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Handwritten notes </a:t>
            </a:r>
            <a:r>
              <a:rPr sz="1050">
                <a:solidFill>
                  <a:srgbClr val="9B9B96"/>
                </a:solidFill>
                <a:latin typeface="Arial"/>
              </a:rPr>
              <a:t>are too slow during medical trauma.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79976" y="2468880"/>
            <a:ext cx="34290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99248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72584" y="2743200"/>
            <a:ext cx="284378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600" b="1">
                <a:solidFill>
                  <a:srgbClr val="FFD000"/>
                </a:solidFill>
                <a:latin typeface="Arial Narrow"/>
              </a:defRPr>
            </a:pPr>
            <a:r>
              <a:t>&lt; 1%</a:t>
            </a:r>
          </a:p>
          <a:p>
            <a:pPr>
              <a:spcAft>
                <a:spcPts val="20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HEARING WHO UNDERSTAND SIGN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Over 99% of doctors </a:t>
            </a:r>
            <a:r>
              <a:rPr sz="1050">
                <a:solidFill>
                  <a:srgbClr val="9B9B96"/>
                </a:solidFill>
                <a:latin typeface="Arial"/>
              </a:rPr>
              <a:t>and responders cannot read sign.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High risk </a:t>
            </a:r>
            <a:r>
              <a:rPr sz="1050">
                <a:solidFill>
                  <a:srgbClr val="9B9B96"/>
                </a:solidFill>
                <a:latin typeface="Arial"/>
              </a:rPr>
              <a:t>of dangerous misinterpretation in traffic stops.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Patients unable </a:t>
            </a:r>
            <a:r>
              <a:rPr sz="1050">
                <a:solidFill>
                  <a:srgbClr val="9B9B96"/>
                </a:solidFill>
                <a:latin typeface="Arial"/>
              </a:rPr>
              <a:t>to convey critical symptoms or allergies.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65592" y="2468880"/>
            <a:ext cx="34290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84864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58200" y="2743200"/>
            <a:ext cx="2843784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4600" b="1">
                <a:solidFill>
                  <a:srgbClr val="FFD000"/>
                </a:solidFill>
                <a:latin typeface="Arial Narrow"/>
              </a:defRPr>
            </a:pPr>
            <a:r>
              <a:t>2-4 HRS</a:t>
            </a:r>
          </a:p>
          <a:p>
            <a:pPr>
              <a:spcAft>
                <a:spcPts val="20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INTERPRETER ARRIVAL DELAY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Certified interpreters </a:t>
            </a:r>
            <a:r>
              <a:rPr sz="1050">
                <a:solidFill>
                  <a:srgbClr val="9B9B96"/>
                </a:solidFill>
                <a:latin typeface="Arial"/>
              </a:rPr>
              <a:t>are rarely on-site when needed.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Costs exceed $100/hr, </a:t>
            </a:r>
            <a:r>
              <a:rPr sz="1050">
                <a:solidFill>
                  <a:srgbClr val="9B9B96"/>
                </a:solidFill>
                <a:latin typeface="Arial"/>
              </a:rPr>
              <a:t>inaccessible for daily interactions.</a:t>
            </a:r>
          </a:p>
          <a:p>
            <a:pPr>
              <a:spcAft>
                <a:spcPts val="14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Urgent care demands </a:t>
            </a:r>
            <a:r>
              <a:rPr sz="1050">
                <a:solidFill>
                  <a:srgbClr val="9B9B96"/>
                </a:solidFill>
                <a:latin typeface="Arial"/>
              </a:rPr>
              <a:t>instant, on-device AI assistance.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02 // THE CORE NOVELTY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ISOLATED SIGNS ARE NOT A CONVERSATION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The fundamental barrier in AI sign language isn't just image classification — it is conversational synthesis.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5321808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06440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2743200"/>
            <a:ext cx="4681728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9B9B96"/>
                </a:solidFill>
                <a:latin typeface="Consolas"/>
              </a:defRPr>
            </a:pPr>
            <a:r>
              <a:t>✕  STANDARD RESEARCH APPROACH</a:t>
            </a:r>
          </a:p>
          <a:p>
            <a:pPr>
              <a:spcAft>
                <a:spcPts val="12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Raw Token Splatting Without Grammar</a:t>
            </a:r>
          </a:p>
          <a:p>
            <a:pPr>
              <a:spcAft>
                <a:spcPts val="1000"/>
              </a:spcAft>
              <a:defRPr sz="900" b="1">
                <a:solidFill>
                  <a:srgbClr val="9B9B96"/>
                </a:solidFill>
                <a:latin typeface="Consolas"/>
              </a:defRPr>
            </a:pPr>
            <a:r>
              <a:t>FLOW: Camera ──► Classifier ──► Dumps Raw Words</a:t>
            </a:r>
          </a:p>
          <a:p>
            <a:pPr>
              <a:spcAft>
                <a:spcPts val="1600"/>
              </a:spcAft>
              <a:defRPr sz="1150" b="1">
                <a:solidFill>
                  <a:srgbClr val="FFD000"/>
                </a:solidFill>
                <a:latin typeface="Consolas"/>
              </a:defRPr>
            </a:pPr>
            <a:r>
              <a:t>OUTPUT: "WATER" ... "PLEASE" ... "WATER"</a:t>
            </a:r>
          </a:p>
          <a:p>
            <a:pPr>
              <a:spcAft>
                <a:spcPts val="1000"/>
              </a:spcAft>
              <a:defRPr sz="105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Sounds robotic, </a:t>
            </a:r>
            <a:r>
              <a:rPr sz="1050">
                <a:solidFill>
                  <a:srgbClr val="9B9B96"/>
                </a:solidFill>
                <a:latin typeface="Arial"/>
              </a:rPr>
              <a:t>grammatically broken, and disjointed.</a:t>
            </a:r>
          </a:p>
          <a:p>
            <a:pPr>
              <a:spcAft>
                <a:spcPts val="1000"/>
              </a:spcAft>
              <a:defRPr sz="105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Confusing and slow </a:t>
            </a:r>
            <a:r>
              <a:rPr sz="1050">
                <a:solidFill>
                  <a:srgbClr val="9B9B96"/>
                </a:solidFill>
                <a:latin typeface="Arial"/>
              </a:rPr>
              <a:t>for emergency doctors and responders.</a:t>
            </a:r>
          </a:p>
          <a:p>
            <a:pPr>
              <a:spcAft>
                <a:spcPts val="1000"/>
              </a:spcAft>
              <a:defRPr sz="105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Single-frame jitter </a:t>
            </a:r>
            <a:r>
              <a:rPr sz="1050">
                <a:solidFill>
                  <a:srgbClr val="9B9B96"/>
                </a:solidFill>
                <a:latin typeface="Arial"/>
              </a:rPr>
              <a:t>spams duplicate words endlessly.</a:t>
            </a:r>
          </a:p>
          <a:p>
            <a:pPr>
              <a:spcAft>
                <a:spcPts val="1000"/>
              </a:spcAft>
              <a:defRPr sz="105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Zero awareness </a:t>
            </a:r>
            <a:r>
              <a:rPr sz="1050">
                <a:solidFill>
                  <a:srgbClr val="9B9B96"/>
                </a:solidFill>
                <a:latin typeface="Arial"/>
              </a:rPr>
              <a:t>of social etiquette or conversational context.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2784" y="2468880"/>
            <a:ext cx="5321808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84864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92824" y="2743200"/>
            <a:ext cx="4681728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FD000"/>
                </a:solidFill>
                <a:latin typeface="Consolas"/>
              </a:defRPr>
            </a:pPr>
            <a:r>
              <a:t>✓  SIGNIFY CONTEXT ENGINE (OUR NOVELTY)</a:t>
            </a:r>
          </a:p>
          <a:p>
            <a:pPr>
              <a:spcAft>
                <a:spcPts val="12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Grounded Natural Sentence Synthesis</a:t>
            </a:r>
          </a:p>
          <a:p>
            <a:pPr>
              <a:spcAft>
                <a:spcPts val="1000"/>
              </a:spcAft>
              <a:defRPr sz="900" b="1">
                <a:solidFill>
                  <a:srgbClr val="FFD000"/>
                </a:solidFill>
                <a:latin typeface="Consolas"/>
              </a:defRPr>
            </a:pPr>
            <a:r>
              <a:t>FLOW: Camera ──► Verified Buffer ──► Context Grammar</a:t>
            </a:r>
          </a:p>
          <a:p>
            <a:pPr>
              <a:spcAft>
                <a:spcPts val="1600"/>
              </a:spcAft>
              <a:defRPr sz="1100" b="1">
                <a:solidFill>
                  <a:srgbClr val="F5F5F0"/>
                </a:solidFill>
                <a:latin typeface="Consolas"/>
              </a:defRPr>
            </a:pPr>
            <a:r>
              <a:t>SYNTHESIS: [ WATER ] + [ PLEASE ] → "Please may I have some water?"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FD000"/>
                </a:solidFill>
                <a:latin typeface="Arial"/>
              </a:rPr>
              <a:t>Medical triage: </a:t>
            </a:r>
            <a:r>
              <a:rPr sz="1050">
                <a:solidFill>
                  <a:srgbClr val="F5F5F0"/>
                </a:solidFill>
                <a:latin typeface="Arial"/>
              </a:rPr>
              <a:t>[ SICK ] + [ OWIE ] → "I am sick and experiencing severe pain."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FD000"/>
                </a:solidFill>
                <a:latin typeface="Arial"/>
              </a:rPr>
              <a:t>100% Deterministic: </a:t>
            </a:r>
            <a:r>
              <a:rPr sz="1050">
                <a:solidFill>
                  <a:srgbClr val="F5F5F0"/>
                </a:solidFill>
                <a:latin typeface="Arial"/>
              </a:rPr>
              <a:t>Zero-Hallucination, never invents non-existent words.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FD000"/>
                </a:solidFill>
                <a:latin typeface="Arial"/>
              </a:rPr>
              <a:t>Fluent communication: </a:t>
            </a:r>
            <a:r>
              <a:rPr sz="1050">
                <a:solidFill>
                  <a:srgbClr val="F5F5F0"/>
                </a:solidFill>
                <a:latin typeface="Arial"/>
              </a:rPr>
              <a:t>Human-first grammar synthesis in &lt; 2ms.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FD000"/>
                </a:solidFill>
                <a:latin typeface="Arial"/>
              </a:rPr>
              <a:t>Offline execution: </a:t>
            </a:r>
            <a:r>
              <a:rPr sz="1050">
                <a:solidFill>
                  <a:srgbClr val="F5F5F0"/>
                </a:solidFill>
                <a:latin typeface="Arial"/>
              </a:rPr>
              <a:t>Zero dependency on high-latency cloud LLMs.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03 // PRODUCT ARCHITECTURE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THE SMARTPHONE AS A TWO-WAY INTERACTION BRIDGE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Signify completes the communication loop: Forward Sign → Speech and Reverse Voice → Accessible Text.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1810512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51760"/>
            <a:ext cx="72237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FORWARD DIRECTION: GESTURE → VOICE (FOR HEARING LISTENER)</a:t>
            </a:r>
          </a:p>
          <a:p>
            <a:pPr>
              <a:spcAft>
                <a:spcPts val="800"/>
              </a:spcAft>
              <a:defRPr sz="900" b="1">
                <a:solidFill>
                  <a:srgbClr val="F5F5F0"/>
                </a:solidFill>
                <a:latin typeface="Consolas"/>
              </a:defRPr>
            </a:pPr>
            <a:r>
              <a:t>Camera Ingest (543 Landmarks) ──► TFLite ASL 250 ──► Sentence Engine ──► Audio Broadcast</a:t>
            </a:r>
          </a:p>
          <a:p>
            <a:pPr>
              <a:defRPr sz="1050">
                <a:solidFill>
                  <a:srgbClr val="9B9B96"/>
                </a:solidFill>
                <a:latin typeface="Arial"/>
              </a:defRPr>
            </a:pPr>
            <a:r>
              <a:t>Deaf signer signs in camera reticle → Synthesizes fluent speech out of phone's stereo speakers.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" y="4453128"/>
            <a:ext cx="7772400" cy="1810512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57032" y="4471416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4636008"/>
            <a:ext cx="7223760" cy="1490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REVERSE DIRECTION: VOICE → ACCESSIBLE TEXT (FOR DEAF SIGNER)</a:t>
            </a:r>
          </a:p>
          <a:p>
            <a:pPr>
              <a:spcAft>
                <a:spcPts val="800"/>
              </a:spcAft>
              <a:defRPr sz="900" b="1">
                <a:solidFill>
                  <a:srgbClr val="F5F5F0"/>
                </a:solidFill>
                <a:latin typeface="Consolas"/>
              </a:defRPr>
            </a:pPr>
            <a:r>
              <a:t>Dual Mic Array ──► Real-Time STT ──► Noise Filter ──► 24pt High-Contrast Subtitles</a:t>
            </a:r>
          </a:p>
          <a:p>
            <a:pPr>
              <a:defRPr sz="1050">
                <a:solidFill>
                  <a:srgbClr val="9B9B96"/>
                </a:solidFill>
                <a:latin typeface="Arial"/>
              </a:defRPr>
            </a:pPr>
            <a:r>
              <a:t>Hearing doctor/officer speaks → Instant oversized readable text displayed for the deaf user.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41080" y="2468880"/>
            <a:ext cx="1978778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510130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media_17900229505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887338" cy="3502152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41080" y="6025896"/>
            <a:ext cx="197877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TWO-WAY BRIDGE HERO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04 // LIVE PROTOTYPE REALITY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KAGGLE ASL 250 ML VISION FOUNDATION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Active live camera vision with MediaPipe landmark tracking and TFLite model running right now.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97480"/>
            <a:ext cx="722376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VISION EXTRACTION &amp; INFERENCE PIPELINE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1. CAMERA INGEST: </a:t>
            </a:r>
            <a:r>
              <a:rPr sz="1000">
                <a:solidFill>
                  <a:srgbClr val="F5F5F0"/>
                </a:solidFill>
                <a:latin typeface="Arial"/>
              </a:rPr>
              <a:t>60 FPS mirror vision with custom high-contrast gold reticle.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2. MEDIAPIPE TRACKING: </a:t>
            </a:r>
            <a:r>
              <a:rPr sz="1000">
                <a:solidFill>
                  <a:srgbClr val="F5F5F0"/>
                </a:solidFill>
                <a:latin typeface="Arial"/>
              </a:rPr>
              <a:t>543 spatial coordinates (468 face mesh, 21 pose, 42 dual-hand points).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3. TFLITE SIGNATURE RUNNER: </a:t>
            </a:r>
            <a:r>
              <a:rPr sz="1000">
                <a:solidFill>
                  <a:srgbClr val="F5F5F0"/>
                </a:solidFill>
                <a:latin typeface="Arial"/>
              </a:rPr>
              <a:t>Rolling 45-frame buffer fed into 1D-CNN/Transformer encoder.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4. KAGGLE 250 VOCABULARY: </a:t>
            </a:r>
            <a:r>
              <a:rPr sz="1000">
                <a:solidFill>
                  <a:srgbClr val="F5F5F0"/>
                </a:solidFill>
                <a:latin typeface="Arial"/>
              </a:rPr>
              <a:t>Predicts authentic classes (e.g. SICK, OWIE, WATER, PLEASE, CALL ON PHONE).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5. LIVE CLOUD BRIDGE: </a:t>
            </a:r>
            <a:r>
              <a:rPr sz="1000">
                <a:solidFill>
                  <a:srgbClr val="F5F5F0"/>
                </a:solidFill>
                <a:latin typeface="Arial"/>
              </a:rPr>
              <a:t>Render FastAPI backend (https://signifyprototype.onrender.com) connected live.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2468880"/>
            <a:ext cx="1905857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37209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242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814417" cy="35021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41080" y="6025896"/>
            <a:ext cx="190585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LIVE VISION TRACKING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05 // TRUST &amp; CLINICAL SAFETY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DUAL SAFETY GATING: 70% CONFIDENCE &amp; TEMPORAL STABILITY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Medical and emergency contexts cannot tolerate random AI hallucinations or single-frame jitter.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11000232" cy="64008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2633472"/>
            <a:ext cx="1045159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D000"/>
                </a:solidFill>
                <a:latin typeface="Consolas"/>
              </a:defRPr>
            </a:pPr>
            <a:r>
              <a:t>DECISION FLOW: PREDICTION ──► [ GATE 1: ≥ 70.0% SOFTMAX? ] ──► [ GATE 2: 2-FRAME STABILITY? ] ──► ACCEPT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3291840"/>
            <a:ext cx="5321808" cy="29718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806440" y="33101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3520440"/>
            <a:ext cx="4773168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✓ ACCEPTED GESTURE (≥ 70.0% CONFIDENCE)</a:t>
            </a:r>
          </a:p>
          <a:p>
            <a:pPr>
              <a:spcAft>
                <a:spcPts val="1200"/>
              </a:spcAft>
              <a:defRPr sz="1600" b="1">
                <a:solidFill>
                  <a:srgbClr val="F5F5F0"/>
                </a:solidFill>
                <a:latin typeface="Arial Narrow"/>
              </a:defRPr>
            </a:pPr>
            <a:r>
              <a:t>Strict Threshold + 2-Frame Temporal Lock</a:t>
            </a:r>
          </a:p>
          <a:p>
            <a:pPr>
              <a:spcAft>
                <a:spcPts val="7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Softmax Probability: </a:t>
            </a:r>
            <a:r>
              <a:rPr sz="1000">
                <a:solidFill>
                  <a:srgbClr val="9B9B96"/>
                </a:solidFill>
                <a:latin typeface="Arial"/>
              </a:rPr>
              <a:t>≥ 70.0% required for token acceptance.</a:t>
            </a:r>
          </a:p>
          <a:p>
            <a:pPr>
              <a:spcAft>
                <a:spcPts val="7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Temporal Filter: </a:t>
            </a:r>
            <a:r>
              <a:rPr sz="1000">
                <a:solidFill>
                  <a:srgbClr val="9B9B96"/>
                </a:solidFill>
                <a:latin typeface="Arial"/>
              </a:rPr>
              <a:t>Gesture must persist stably for at least 2 consecutive frames.</a:t>
            </a:r>
          </a:p>
          <a:p>
            <a:pPr>
              <a:spcAft>
                <a:spcPts val="7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Haptic Pulse: </a:t>
            </a:r>
            <a:r>
              <a:rPr sz="1000">
                <a:solidFill>
                  <a:srgbClr val="9B9B96"/>
                </a:solidFill>
                <a:latin typeface="Arial"/>
              </a:rPr>
              <a:t>1 crisp physical vibration pulse (45ms).</a:t>
            </a:r>
          </a:p>
          <a:p>
            <a:pPr>
              <a:spcAft>
                <a:spcPts val="7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Deduplication: </a:t>
            </a:r>
            <a:r>
              <a:rPr sz="1000">
                <a:solidFill>
                  <a:srgbClr val="9B9B96"/>
                </a:solidFill>
                <a:latin typeface="Arial"/>
              </a:rPr>
              <a:t>Prevents stuttering spam (e.g. SICK SICK SICK).</a:t>
            </a:r>
          </a:p>
          <a:p>
            <a:pPr>
              <a:spcAft>
                <a:spcPts val="7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Result: </a:t>
            </a:r>
            <a:r>
              <a:rPr sz="1000">
                <a:solidFill>
                  <a:srgbClr val="9B9B96"/>
                </a:solidFill>
                <a:latin typeface="Arial"/>
              </a:rPr>
              <a:t>Token safely appended to word buffer.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2784" y="3291840"/>
            <a:ext cx="5321808" cy="29718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84864" y="331012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47104" y="3520440"/>
            <a:ext cx="4773168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B9B96"/>
                </a:solidFill>
                <a:latin typeface="Consolas"/>
              </a:defRPr>
            </a:pPr>
            <a:r>
              <a:t>✕ REJECTED GESTURE (&lt; 70.0% CONFIDENCE)</a:t>
            </a:r>
          </a:p>
          <a:p>
            <a:pPr>
              <a:spcAft>
                <a:spcPts val="1200"/>
              </a:spcAft>
              <a:defRPr sz="1600" b="1">
                <a:solidFill>
                  <a:srgbClr val="F5F5F0"/>
                </a:solidFill>
                <a:latin typeface="Arial Narrow"/>
              </a:defRPr>
            </a:pPr>
            <a:r>
              <a:t>Safety-Gate Retry &amp; Haptic Cue</a:t>
            </a:r>
          </a:p>
          <a:p>
            <a:pPr>
              <a:spcAft>
                <a:spcPts val="800"/>
              </a:spcAft>
              <a:defRPr sz="100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Suppresses ambiguous transitions: </a:t>
            </a:r>
            <a:r>
              <a:rPr sz="1000">
                <a:solidFill>
                  <a:srgbClr val="9B9B96"/>
                </a:solidFill>
                <a:latin typeface="Arial"/>
              </a:rPr>
              <a:t>Filters 52% blurred hand motions.</a:t>
            </a:r>
          </a:p>
          <a:p>
            <a:pPr>
              <a:spcAft>
                <a:spcPts val="800"/>
              </a:spcAft>
              <a:defRPr sz="100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Zero Hallucination: </a:t>
            </a:r>
            <a:r>
              <a:rPr sz="1000">
                <a:solidFill>
                  <a:srgbClr val="9B9B96"/>
                </a:solidFill>
                <a:latin typeface="Arial"/>
              </a:rPr>
              <a:t>Never passes unverified words to the sentence engine.</a:t>
            </a:r>
          </a:p>
          <a:p>
            <a:pPr>
              <a:spcAft>
                <a:spcPts val="800"/>
              </a:spcAft>
              <a:defRPr sz="100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Silent Cue: </a:t>
            </a:r>
            <a:r>
              <a:rPr sz="1000">
                <a:solidFill>
                  <a:srgbClr val="9B9B96"/>
                </a:solidFill>
                <a:latin typeface="Arial"/>
              </a:rPr>
              <a:t>2 quick vibration pulses prompt user to re-sign.</a:t>
            </a:r>
          </a:p>
          <a:p>
            <a:pPr>
              <a:spcAft>
                <a:spcPts val="800"/>
              </a:spcAft>
              <a:defRPr sz="1000" b="1">
                <a:solidFill>
                  <a:srgbClr val="9B9B96"/>
                </a:solidFill>
                <a:latin typeface="Arial"/>
              </a:defRPr>
            </a:pPr>
            <a:r>
              <a:t>• </a:t>
            </a:r>
            <a:r>
              <a:rPr sz="1000" b="1">
                <a:solidFill>
                  <a:srgbClr val="F5F5F0"/>
                </a:solidFill>
                <a:latin typeface="Arial"/>
              </a:rPr>
              <a:t>HUD Status: </a:t>
            </a:r>
            <a:r>
              <a:rPr sz="1000">
                <a:solidFill>
                  <a:srgbClr val="9B9B96"/>
                </a:solidFill>
                <a:latin typeface="Arial"/>
              </a:rPr>
              <a:t>Flashes amber reticle: 'POSITION HAND IN FRAME'.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06 // MEANINGFUL SENTENCE SYNTHESIS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GROUNDED CONTEXT-AWARE SENTENCE BUILDER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Turning recognized gesture tokens into grammatically complete, natural English sentences.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97480"/>
            <a:ext cx="722376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DETERMINISTIC GRAMMAR SYNTHESIS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• [ WATER ] + [ PLEASE ] </a:t>
            </a:r>
            <a:r>
              <a:rPr sz="1100" b="1">
                <a:solidFill>
                  <a:srgbClr val="F5F5F0"/>
                </a:solidFill>
                <a:latin typeface="Arial"/>
              </a:rPr>
              <a:t>→  "Please may I have some water?"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• [ SICK ] + [ OWIE ] </a:t>
            </a:r>
            <a:r>
              <a:rPr sz="1100" b="1">
                <a:solidFill>
                  <a:srgbClr val="F5F5F0"/>
                </a:solidFill>
                <a:latin typeface="Arial"/>
              </a:rPr>
              <a:t>→  "I am sick and experiencing severe pain."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• [ POLICE ] + [ CALL ON PHONE ] </a:t>
            </a:r>
            <a:r>
              <a:rPr sz="1100" b="1">
                <a:solidFill>
                  <a:srgbClr val="F5F5F0"/>
                </a:solidFill>
                <a:latin typeface="Arial"/>
              </a:rPr>
              <a:t>→  "Please call the police immediately."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• [ WHERE ] + [ BATH ] </a:t>
            </a:r>
            <a:r>
              <a:rPr sz="1100" b="1">
                <a:solidFill>
                  <a:srgbClr val="F5F5F0"/>
                </a:solidFill>
                <a:latin typeface="Arial"/>
              </a:rPr>
              <a:t>→  "Excuse me, where is the nearest restroom?"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• [ BYE ] </a:t>
            </a:r>
            <a:r>
              <a:rPr sz="1100" b="1">
                <a:solidFill>
                  <a:srgbClr val="F5F5F0"/>
                </a:solidFill>
                <a:latin typeface="Arial"/>
              </a:rPr>
              <a:t>→  "Goodbye, have a great day!" (Single-token synthesis)</a:t>
            </a:r>
          </a:p>
          <a:p>
            <a:pPr>
              <a:spcBef>
                <a:spcPts val="1400"/>
              </a:spcBef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Latency: &lt; 2ms  |  Hallucination: 0%  |  Resilience: 100% Offline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2468880"/>
            <a:ext cx="1852637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83989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288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761197" cy="35021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41080" y="6025896"/>
            <a:ext cx="1852637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AUDIO BROADCAST &amp; WAVEFORM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07 // LIVE TWO-WAY DIALOGUE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TWO-WAY LIVE CONVERSATION STREAM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A unified conversation stream bridging both participants with instant audio playback.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97480"/>
            <a:ext cx="722376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FULL TWO-WAY COMMUNICATION BRIDGE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DISTINCT SPEAKER ROLES: </a:t>
            </a:r>
            <a:r>
              <a:rPr sz="1000">
                <a:solidFill>
                  <a:srgbClr val="F5F5F0"/>
                </a:solidFill>
                <a:latin typeface="Arial"/>
              </a:rPr>
              <a:t>Gold badge for SIGN (YOU) vs. Gray card for SPEECH (OTHER PERSON).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SIGN TOKEN TRACEABILITY: </a:t>
            </a:r>
            <a:r>
              <a:rPr sz="1000">
                <a:solidFill>
                  <a:srgbClr val="F5F5F0"/>
                </a:solidFill>
                <a:latin typeface="Arial"/>
              </a:rPr>
              <a:t>Shows underlying Kaggle tokens (e.g. [HELLO HOW YOU], [BYE]).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ONE-TOUCH AUDIO PLAYBACK: </a:t>
            </a:r>
            <a:r>
              <a:rPr sz="1000">
                <a:solidFill>
                  <a:srgbClr val="F5F5F0"/>
                </a:solidFill>
                <a:latin typeface="Arial"/>
              </a:rPr>
              <a:t>Play/Stop speech synthesis button on every chat bubble.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QUICK ACTIONS: </a:t>
            </a:r>
            <a:r>
              <a:rPr sz="1000">
                <a:solidFill>
                  <a:srgbClr val="F5F5F0"/>
                </a:solidFill>
                <a:latin typeface="Arial"/>
              </a:rPr>
              <a:t>[ 🤟 SIGN ] camera modal &amp; [ 🎤 SPEAK ] voice modal always available.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CONVERSATION MEMORY: </a:t>
            </a:r>
            <a:r>
              <a:rPr sz="1000">
                <a:solidFill>
                  <a:srgbClr val="F5F5F0"/>
                </a:solidFill>
                <a:latin typeface="Arial"/>
              </a:rPr>
              <a:t>Maintains full transcript for medical triage or emergency review.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2468880"/>
            <a:ext cx="1910101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41453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3586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818661" cy="35021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41080" y="6025896"/>
            <a:ext cx="1910101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CONVERSATION MODE STREAM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08 // REVERSE VOICE INGEST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VOICE-TO-TEXT: LISTENING TO THE HEARING PARTNER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Capturing speech in high-noise environments with real-time waveform feedback.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97480"/>
            <a:ext cx="722376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VOICE CAPTURE &amp; TRANSCRIPTION FEATURES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ONE-TAP VOICE CAPTURE: </a:t>
            </a:r>
            <a:r>
              <a:rPr sz="1000">
                <a:solidFill>
                  <a:srgbClr val="F5F5F0"/>
                </a:solidFill>
                <a:latin typeface="Arial"/>
              </a:rPr>
              <a:t>Large high-contrast microphone button designed for effortless hand-off.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REAL-TIME WAVEFORM FEEDBACK: </a:t>
            </a:r>
            <a:r>
              <a:rPr sz="1000">
                <a:solidFill>
                  <a:srgbClr val="F5F5F0"/>
                </a:solidFill>
                <a:latin typeface="Arial"/>
              </a:rPr>
              <a:t>Visual pulsing waveform confirms active audio capture to the deaf user.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DIRECTIONAL NOISE SUPPRESSION: </a:t>
            </a:r>
            <a:r>
              <a:rPr sz="1000">
                <a:solidFill>
                  <a:srgbClr val="F5F5F0"/>
                </a:solidFill>
                <a:latin typeface="Arial"/>
              </a:rPr>
              <a:t>Leverages iQOO dual-microphone array to isolate speech from ambient hospital noise.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SINGLE-DISPATCH TRANSCRIPTION: </a:t>
            </a:r>
            <a:r>
              <a:rPr sz="1000">
                <a:solidFill>
                  <a:srgbClr val="F5F5F0"/>
                </a:solidFill>
                <a:latin typeface="Arial"/>
              </a:rPr>
              <a:t>Zero-duplicate dispatch engine prevents echo messages in the chat stream.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2468880"/>
            <a:ext cx="1854732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86084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4326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763292" cy="35021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41080" y="6025896"/>
            <a:ext cx="18547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TAP TO SPEAK INTERFACE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09 // HIGH-CONTRAST ACCESSIBILITY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ACCESSIBLE HIGH-CONTRAST READOUT FOR SIGNERS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Clear, legible visual output designed for readability across a hospital bed or desk.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777240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5703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697480"/>
            <a:ext cx="722376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DEAF-FIRST ERGONOMIC DESIGN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24pt HIGH-CONTRAST DISPLAY: </a:t>
            </a:r>
            <a:r>
              <a:rPr sz="1000">
                <a:solidFill>
                  <a:srgbClr val="F5F5F0"/>
                </a:solidFill>
                <a:latin typeface="Arial"/>
              </a:rPr>
              <a:t>Bold white text framed in glowing cyber-gold card on OLED black.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100% VISIBLE STATUS: </a:t>
            </a:r>
            <a:r>
              <a:rPr sz="1000">
                <a:solidFill>
                  <a:srgbClr val="F5F5F0"/>
                </a:solidFill>
                <a:latin typeface="Arial"/>
              </a:rPr>
              <a:t>Instant visual confirmation that the speech has been accurately converted.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AUDIO REPLAY CONTROL: </a:t>
            </a:r>
            <a:r>
              <a:rPr sz="1000">
                <a:solidFill>
                  <a:srgbClr val="F5F5F0"/>
                </a:solidFill>
                <a:latin typeface="Arial"/>
              </a:rPr>
              <a:t>Replay button allows deaf user to verify what audio was transcribed.</a:t>
            </a:r>
          </a:p>
          <a:p>
            <a:pPr>
              <a:spcAft>
                <a:spcPts val="10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▶ ONE-CLICK TO CONVERSATION: </a:t>
            </a:r>
            <a:r>
              <a:rPr sz="1000">
                <a:solidFill>
                  <a:srgbClr val="F5F5F0"/>
                </a:solidFill>
                <a:latin typeface="Arial"/>
              </a:rPr>
              <a:t>Instantly appends transcribed speech to the unified conversation bridge.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41080" y="2468880"/>
            <a:ext cx="1991674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23026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media_17900235657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514600"/>
            <a:ext cx="1900234" cy="350215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41080" y="6025896"/>
            <a:ext cx="1991674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[ HIGH-CONTRAST SPEECH CARD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10 // HARDWARE ACCELERATION BENCHMARK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QUALCOMM SNAPDRAGON HEXAGON NPU ACCELERATION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Unlocking sub-18ms on-device inference using Qualcomm AI Engine Direct (QNN SDK).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11000232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2578608"/>
            <a:ext cx="1045159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D000"/>
                </a:solidFill>
                <a:latin typeface="Consolas"/>
              </a:defRPr>
            </a:pPr>
            <a:r>
              <a:t>HARDWARE PIPELINE: CAMERA (60 FPS) ──► MEDIAPIPE (543 KEYPOINTS) ──► TFLITE (INT8) ──► QUALCOMM QNN ──► HEXAGON DSP</a:t>
            </a:r>
          </a:p>
          <a:p>
            <a:pPr>
              <a:defRPr sz="1000">
                <a:solidFill>
                  <a:srgbClr val="F5F5F0"/>
                </a:solidFill>
                <a:latin typeface="Arial"/>
              </a:defRPr>
            </a:pPr>
            <a:r>
              <a:t>Direct AHARDWAREBUFFER memory binding offloads matrix math directly to Hexagon NPU with zero CPU memory copies.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3319272"/>
            <a:ext cx="2560320" cy="2944368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044952" y="3337560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3547872"/>
            <a:ext cx="2103120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B9B96"/>
                </a:solidFill>
                <a:latin typeface="Consolas"/>
              </a:defRPr>
            </a:pPr>
            <a:r>
              <a:t>INFERENCE LATENCY</a:t>
            </a:r>
          </a:p>
          <a:p>
            <a:pPr>
              <a:spcAft>
                <a:spcPts val="1400"/>
              </a:spcAft>
              <a:defRPr sz="3600" b="1">
                <a:solidFill>
                  <a:srgbClr val="FFD000"/>
                </a:solidFill>
                <a:latin typeface="Arial Narrow"/>
              </a:defRPr>
            </a:pPr>
            <a:r>
              <a:t>&lt; 18 ms</a:t>
            </a:r>
          </a:p>
          <a:p>
            <a:pPr>
              <a:spcAft>
                <a:spcPts val="600"/>
              </a:spcAft>
              <a:defRPr sz="1000" b="0">
                <a:solidFill>
                  <a:srgbClr val="9B9B96"/>
                </a:solidFill>
                <a:latin typeface="Arial"/>
              </a:defRPr>
            </a:pPr>
            <a:r>
              <a:t>vs. CPU: 145 ms</a:t>
            </a:r>
          </a:p>
          <a:p>
            <a:pPr>
              <a:spcAft>
                <a:spcPts val="600"/>
              </a:spcAft>
              <a:defRPr sz="1000" b="0">
                <a:solidFill>
                  <a:srgbClr val="9B9B96"/>
                </a:solidFill>
                <a:latin typeface="Arial"/>
              </a:defRPr>
            </a:pPr>
            <a:r>
              <a:t>vs. Cloud: 280 ms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Real-time 60 FPS sub-frame speed.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01568" y="3319272"/>
            <a:ext cx="2560320" cy="2944368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52160" y="3337560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30168" y="3547872"/>
            <a:ext cx="2103120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B9B96"/>
                </a:solidFill>
                <a:latin typeface="Consolas"/>
              </a:defRPr>
            </a:pPr>
            <a:r>
              <a:t>POWER EFFICIENCY</a:t>
            </a:r>
          </a:p>
          <a:p>
            <a:pPr>
              <a:spcAft>
                <a:spcPts val="1400"/>
              </a:spcAft>
              <a:defRPr sz="3600" b="1">
                <a:solidFill>
                  <a:srgbClr val="FFD000"/>
                </a:solidFill>
                <a:latin typeface="Arial Narrow"/>
              </a:defRPr>
            </a:pPr>
            <a:r>
              <a:t>0.42 W</a:t>
            </a:r>
          </a:p>
          <a:p>
            <a:pPr>
              <a:spcAft>
                <a:spcPts val="600"/>
              </a:spcAft>
              <a:defRPr sz="1000" b="0">
                <a:solidFill>
                  <a:srgbClr val="9B9B96"/>
                </a:solidFill>
                <a:latin typeface="Arial"/>
              </a:defRPr>
            </a:pPr>
            <a:r>
              <a:t>vs. CPU: 3.8 W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No phone overheating.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All-day continuous operation.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8776" y="3319272"/>
            <a:ext cx="2560320" cy="2944368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659368" y="3337560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37376" y="3547872"/>
            <a:ext cx="2103120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B9B96"/>
                </a:solidFill>
                <a:latin typeface="Consolas"/>
              </a:defRPr>
            </a:pPr>
            <a:r>
              <a:t>BANDWIDTH COST</a:t>
            </a:r>
          </a:p>
          <a:p>
            <a:pPr>
              <a:spcAft>
                <a:spcPts val="1400"/>
              </a:spcAft>
              <a:defRPr sz="3600" b="1">
                <a:solidFill>
                  <a:srgbClr val="FFD000"/>
                </a:solidFill>
                <a:latin typeface="Arial Narrow"/>
              </a:defRPr>
            </a:pPr>
            <a:r>
              <a:t>0 KB/s</a:t>
            </a:r>
          </a:p>
          <a:p>
            <a:pPr>
              <a:spcAft>
                <a:spcPts val="600"/>
              </a:spcAft>
              <a:defRPr sz="1000" b="0">
                <a:solidFill>
                  <a:srgbClr val="9B9B96"/>
                </a:solidFill>
                <a:latin typeface="Arial"/>
              </a:defRPr>
            </a:pPr>
            <a:r>
              <a:t>vs. Cloud: 120 KB/s/frame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100% offline.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Works in elevators &amp; flights.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15984" y="3319272"/>
            <a:ext cx="2560320" cy="2944368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466576" y="3337560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44584" y="3547872"/>
            <a:ext cx="2103120" cy="2578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9B9B96"/>
                </a:solidFill>
                <a:latin typeface="Consolas"/>
              </a:defRPr>
            </a:pPr>
            <a:r>
              <a:t>DATA PRIVACY</a:t>
            </a:r>
          </a:p>
          <a:p>
            <a:pPr>
              <a:spcAft>
                <a:spcPts val="1400"/>
              </a:spcAft>
              <a:defRPr sz="3600" b="1">
                <a:solidFill>
                  <a:srgbClr val="FFD000"/>
                </a:solidFill>
                <a:latin typeface="Arial Narrow"/>
              </a:defRPr>
            </a:pPr>
            <a:r>
              <a:t>100% LOCAL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Zero video leaves device.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Full HIPAA compliance.</a:t>
            </a:r>
          </a:p>
          <a:p>
            <a:pPr>
              <a:spcAft>
                <a:spcPts val="600"/>
              </a:spcAft>
              <a:defRPr sz="1000" b="1">
                <a:solidFill>
                  <a:srgbClr val="F5F5F0"/>
                </a:solidFill>
                <a:latin typeface="Arial"/>
              </a:defRPr>
            </a:pPr>
            <a:r>
              <a:t>Zero cloud leak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11 // ANDROID IMPLEMENTATION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HOW SIGNIFY RUNS ON AN IQOO ANDROID PHONE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Two clear pathways: Rapid APK packaging for hackathons and the native Jetpack CameraX production architecture.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5321808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806440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2743200"/>
            <a:ext cx="4773168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PATH A: RAPID APK / PWA PACKAGING</a:t>
            </a:r>
          </a:p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Capacitor Mobile Wrapper &amp; WebAPK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Capacitor CLI: </a:t>
            </a:r>
            <a:r>
              <a:rPr sz="1000">
                <a:solidFill>
                  <a:srgbClr val="9B9B96"/>
                </a:solidFill>
                <a:latin typeface="Arial"/>
              </a:rPr>
              <a:t>Wraps Vite/React build into native Android Studio project.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Manifest Permissions: </a:t>
            </a:r>
            <a:r>
              <a:rPr sz="1000">
                <a:solidFill>
                  <a:srgbClr val="9B9B96"/>
                </a:solidFill>
                <a:latin typeface="Arial"/>
              </a:rPr>
              <a:t>Camera, Record Audio, Vibrator, Internet.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APK Build: </a:t>
            </a:r>
            <a:r>
              <a:rPr sz="1000">
                <a:solidFill>
                  <a:srgbClr val="9B9B96"/>
                </a:solidFill>
                <a:latin typeface="Arial"/>
              </a:rPr>
              <a:t>Compiles standalone .apk installable on any Android device.</a:t>
            </a:r>
          </a:p>
          <a:p>
            <a:pPr>
              <a:spcAft>
                <a:spcPts val="10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Instant PWA: </a:t>
            </a:r>
            <a:r>
              <a:rPr sz="1000">
                <a:solidFill>
                  <a:srgbClr val="9B9B96"/>
                </a:solidFill>
                <a:latin typeface="Arial"/>
              </a:rPr>
              <a:t>Judges opening our Vercel link on Android get an 'Install App' prompt for full-screen standalone execution.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2784" y="2468880"/>
            <a:ext cx="5321808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484864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47104" y="2743200"/>
            <a:ext cx="4773168" cy="3337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FD000"/>
                </a:solidFill>
                <a:latin typeface="Consolas"/>
              </a:defRPr>
            </a:pPr>
            <a:r>
              <a:t>PATH B: NATIVE ANDROID STACK (iQOO FLAGSHIP)</a:t>
            </a:r>
          </a:p>
          <a:p>
            <a:pPr>
              <a:spcAft>
                <a:spcPts val="1400"/>
              </a:spcAft>
              <a:defRPr sz="1800" b="1">
                <a:solidFill>
                  <a:srgbClr val="F5F5F0"/>
                </a:solidFill>
                <a:latin typeface="Arial Narrow"/>
              </a:defRPr>
            </a:pPr>
            <a:r>
              <a:t>Deep Qualcomm QNN &amp; Android OS Pipeline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CameraX ImageAnalysis: </a:t>
            </a:r>
            <a:r>
              <a:rPr sz="1000">
                <a:solidFill>
                  <a:srgbClr val="9B9B96"/>
                </a:solidFill>
                <a:latin typeface="Arial"/>
              </a:rPr>
              <a:t>60 FPS zero-copy YUV stream from camera sensor.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MediaPipe Tasks Vision SDK: </a:t>
            </a:r>
            <a:r>
              <a:rPr sz="1000">
                <a:solidFill>
                  <a:srgbClr val="9B9B96"/>
                </a:solidFill>
                <a:latin typeface="Arial"/>
              </a:rPr>
              <a:t>Native Android HandLandmarker extraction.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TFLite QNN Delegate: </a:t>
            </a:r>
            <a:r>
              <a:rPr sz="1000">
                <a:solidFill>
                  <a:srgbClr val="9B9B96"/>
                </a:solidFill>
                <a:latin typeface="Arial"/>
              </a:rPr>
              <a:t>libQnnTfliteDelegate.so offloads tensor math to Hexagon NPU.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VibratorService: </a:t>
            </a:r>
            <a:r>
              <a:rPr sz="1000">
                <a:solidFill>
                  <a:srgbClr val="9B9B96"/>
                </a:solidFill>
                <a:latin typeface="Arial"/>
              </a:rPr>
              <a:t>Precise linear resonant haptic confirmation pulses.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50" b="1">
                <a:solidFill>
                  <a:srgbClr val="F5F5F0"/>
                </a:solidFill>
                <a:latin typeface="Arial"/>
              </a:rPr>
              <a:t>Android TTS: </a:t>
            </a:r>
            <a:r>
              <a:rPr sz="1000">
                <a:solidFill>
                  <a:srgbClr val="9B9B96"/>
                </a:solidFill>
                <a:latin typeface="Arial"/>
              </a:rPr>
              <a:t>Low-latency on-device vocal synthesis.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12 // PRODUCTION TIMELINE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FROM PROTOTYPE TO SYSTEM-LEVEL ACCESSIBILITY 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A phased engineering roadmap to bring Signify to every iQOO user.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256032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44952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269748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FD000"/>
                </a:solidFill>
                <a:latin typeface="Consolas"/>
              </a:defRPr>
            </a:pPr>
            <a:r>
              <a:t>PHASE 1  [COMPLETED]</a:t>
            </a:r>
          </a:p>
          <a:p>
            <a:pPr>
              <a:spcAft>
                <a:spcPts val="16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WEB PROTOTYPE &amp; ML BACKEND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Deployed on Vercel.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FastAPI on Render cloud.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250 Kaggle classes mapped.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70% confidence gating.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Sentence engine active.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1568" y="2468880"/>
            <a:ext cx="256032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0168" y="269748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FD000"/>
                </a:solidFill>
                <a:latin typeface="Consolas"/>
              </a:defRPr>
            </a:pPr>
            <a:r>
              <a:t>PHASE 2  [NEXT 60 DAYS]</a:t>
            </a:r>
          </a:p>
          <a:p>
            <a:pPr>
              <a:spcAft>
                <a:spcPts val="16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NATIVE ANDROID &amp; NPU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Capacitor APK packaging.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CameraX integration.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Qualcomm QNN delegate compilation for Hexagon NPU.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&lt; 0.45W power target.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08776" y="2468880"/>
            <a:ext cx="256032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59368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7376" y="269748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FD000"/>
                </a:solidFill>
                <a:latin typeface="Consolas"/>
              </a:defRPr>
            </a:pPr>
            <a:r>
              <a:t>PHASE 3  [6 MONTHS]</a:t>
            </a:r>
          </a:p>
          <a:p>
            <a:pPr>
              <a:spcAft>
                <a:spcPts val="16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CONTINUOUS SIGNING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Continuous sign language recognition (SLR).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Multi-language support (ISL, BSL, ASL).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Custom medical dictionary.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15984" y="2468880"/>
            <a:ext cx="2560320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466576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44584" y="2697480"/>
            <a:ext cx="2103120" cy="3429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FFD000"/>
                </a:solidFill>
                <a:latin typeface="Consolas"/>
              </a:defRPr>
            </a:pPr>
            <a:r>
              <a:t>PHASE 4  [1 YEAR]</a:t>
            </a:r>
          </a:p>
          <a:p>
            <a:pPr>
              <a:spcAft>
                <a:spcPts val="1600"/>
              </a:spcAft>
              <a:defRPr sz="1400" b="1">
                <a:solidFill>
                  <a:srgbClr val="F5F5F0"/>
                </a:solidFill>
                <a:latin typeface="Arial Narrow"/>
              </a:defRPr>
            </a:pPr>
            <a:r>
              <a:t>OriginOS SYSTEM SERVICE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Triple-press power button trigger.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Floating PiP bubble over video calls.</a:t>
            </a:r>
          </a:p>
          <a:p>
            <a:pPr>
              <a:spcAft>
                <a:spcPts val="800"/>
              </a:spcAft>
              <a:defRPr sz="1000" b="1">
                <a:solidFill>
                  <a:srgbClr val="FFD000"/>
                </a:solidFill>
                <a:latin typeface="Arial"/>
              </a:defRPr>
            </a:pPr>
            <a:r>
              <a:t>• </a:t>
            </a:r>
            <a:r>
              <a:rPr sz="1000">
                <a:solidFill>
                  <a:srgbClr val="F5F5F0"/>
                </a:solidFill>
                <a:latin typeface="Arial"/>
              </a:rPr>
              <a:t>vivo/iQOO Office Kit bridge for Zoom &amp;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45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0574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688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033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262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492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722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5836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951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066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181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296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640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755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8700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10996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932920" y="0"/>
            <a:ext cx="0" cy="685800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4114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8229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12344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16459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0" y="20574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0" y="24688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0" y="28803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32918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7033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41148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45262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493776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534924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576072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617220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6583680"/>
            <a:ext cx="12191969" cy="0"/>
          </a:xfrm>
          <a:prstGeom prst="line">
            <a:avLst/>
          </a:prstGeom>
          <a:ln w="9525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FFD000"/>
                </a:solidFill>
                <a:latin typeface="Consolas"/>
              </a:defRPr>
            </a:pPr>
            <a:r>
              <a:t>13 // CLOSING VISION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21792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100" b="1">
                <a:solidFill>
                  <a:srgbClr val="F5F5F0"/>
                </a:solidFill>
                <a:latin typeface="Arial Narrow"/>
              </a:defRPr>
            </a:pPr>
            <a:r>
              <a:t>COMMUNICATION IS A HUMAN RIGHT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1719072"/>
            <a:ext cx="658368" cy="54864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1874519"/>
            <a:ext cx="107899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B9B96"/>
                </a:solidFill>
                <a:latin typeface="Arial"/>
              </a:defRPr>
            </a:pPr>
            <a:r>
              <a:t>Signify proves that accessible on-device AI can bridge worlds without expensive hardware.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750" b="1">
                <a:solidFill>
                  <a:srgbClr val="9B9B96"/>
                </a:solidFill>
                <a:latin typeface="Consolas"/>
              </a:defRPr>
            </a:pPr>
            <a:r>
              <a:t>SIGNIFY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6510528"/>
            <a:ext cx="3090672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750" b="1">
                <a:solidFill>
                  <a:srgbClr val="FFD000"/>
                </a:solidFill>
                <a:latin typeface="Consolas"/>
              </a:defRPr>
            </a:pPr>
            <a:r>
              <a:t>iQOO HACKATHON 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2468880"/>
            <a:ext cx="11000232" cy="3794760"/>
          </a:xfrm>
          <a:prstGeom prst="rect">
            <a:avLst/>
          </a:prstGeom>
          <a:solidFill>
            <a:srgbClr val="121212"/>
          </a:solidFill>
          <a:ln w="12700">
            <a:solidFill>
              <a:srgbClr val="464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84864" y="2487168"/>
            <a:ext cx="91440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1560" y="2788920"/>
            <a:ext cx="10085832" cy="3246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D000"/>
                </a:solidFill>
                <a:latin typeface="Arial Narrow"/>
              </a:defRPr>
            </a:pPr>
            <a:r>
              <a:t>LET THE SILENCE BE HEARD.</a:t>
            </a:r>
          </a:p>
          <a:p>
            <a:pPr>
              <a:spcAft>
                <a:spcPts val="2200"/>
              </a:spcAft>
              <a:defRPr sz="1300">
                <a:solidFill>
                  <a:srgbClr val="F5F5F0"/>
                </a:solidFill>
                <a:latin typeface="Arial"/>
              </a:defRPr>
            </a:pPr>
            <a:r>
              <a:t>Over 70 million people are waiting for technology to treat their language with dignity.</a:t>
            </a:r>
            <a:br/>
            <a:r>
              <a:t>Signify combines Qualcomm Snapdragon NPU performance, 70% confidence safety gating, and phone-first ergonomics to deliver immediate, two-way conversational freedom.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Consolas"/>
              </a:defRPr>
            </a:pPr>
            <a:r>
              <a:t>▶ LIVE PROTOTYPE: </a:t>
            </a:r>
            <a:r>
              <a:rPr sz="1050">
                <a:solidFill>
                  <a:srgbClr val="9B9B96"/>
                </a:solidFill>
                <a:latin typeface="Arial"/>
              </a:rPr>
              <a:t>Test deployed web application on Vercel.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Consolas"/>
              </a:defRPr>
            </a:pPr>
            <a:r>
              <a:t>▶ ML BACKEND: </a:t>
            </a:r>
            <a:r>
              <a:rPr sz="1050">
                <a:solidFill>
                  <a:srgbClr val="9B9B96"/>
                </a:solidFill>
                <a:latin typeface="Arial"/>
              </a:rPr>
              <a:t>Live on Render (https://signifyprototype.onrender.com).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Consolas"/>
              </a:defRPr>
            </a:pPr>
            <a:r>
              <a:t>▶ CODE REPOSITORY: </a:t>
            </a:r>
            <a:r>
              <a:rPr sz="1050">
                <a:solidFill>
                  <a:srgbClr val="9B9B96"/>
                </a:solidFill>
                <a:latin typeface="Arial"/>
              </a:rPr>
              <a:t>https://github.com/WHENKEY2007/signifyprototype</a:t>
            </a:r>
          </a:p>
          <a:p>
            <a:pPr>
              <a:spcAft>
                <a:spcPts val="800"/>
              </a:spcAft>
              <a:defRPr sz="1050" b="1">
                <a:solidFill>
                  <a:srgbClr val="FFD000"/>
                </a:solidFill>
                <a:latin typeface="Consolas"/>
              </a:defRPr>
            </a:pPr>
            <a:r>
              <a:t>▶ HARDWARE TARGET: </a:t>
            </a:r>
            <a:r>
              <a:rPr sz="1050">
                <a:solidFill>
                  <a:srgbClr val="9B9B96"/>
                </a:solidFill>
                <a:latin typeface="Arial"/>
              </a:rPr>
              <a:t>Qualcomm Snapdragon Hexagon NPU (iQOO 15 Flagship).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